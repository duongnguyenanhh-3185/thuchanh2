
<file path=[Content_Types].xml><?xml version="1.0" encoding="utf-8"?>
<ns0:Types xmlns:ns0="http://schemas.openxmlformats.org/package/2006/content-types">
  <ns0:Default Extension="bin" ContentType="application/vnd.openxmlformats-officedocument.presentationml.printerSettings"/>
  <ns0:Default Extension="jpeg" ContentType="image/jpeg"/>
  <ns0:Default Extension="png" ContentType="image/png"/>
  <ns0:Default Extension="rels" ContentType="application/vnd.openxmlformats-package.relationships+xml"/>
  <ns0:Default Extension="xml" ContentType="application/xml"/>
  <ns0:Override PartName="/docProps/app.xml" ContentType="application/vnd.openxmlformats-officedocument.extended-properties+xml"/>
  <ns0:Override PartName="/docProps/core.xml" ContentType="application/vnd.openxmlformats-package.core-properties+xml"/>
  <ns0:Override PartName="/ppt/presProps.xml" ContentType="application/vnd.openxmlformats-officedocument.presentationml.presProps+xml"/>
  <ns0:Override PartName="/ppt/presentation.xml" ContentType="application/vnd.openxmlformats-officedocument.presentationml.presentation.main+xml"/>
  <ns0:Override PartName="/ppt/slideLayouts/slideLayout1.xml" ContentType="application/vnd.openxmlformats-officedocument.presentationml.slideLayout+xml"/>
  <ns0:Override PartName="/ppt/slideLayouts/slideLayout10.xml" ContentType="application/vnd.openxmlformats-officedocument.presentationml.slideLayout+xml"/>
  <ns0:Override PartName="/ppt/slideLayouts/slideLayout11.xml" ContentType="application/vnd.openxmlformats-officedocument.presentationml.slideLayout+xml"/>
  <ns0:Override PartName="/ppt/slideLayouts/slideLayout2.xml" ContentType="application/vnd.openxmlformats-officedocument.presentationml.slideLayout+xml"/>
  <ns0:Override PartName="/ppt/slideLayouts/slideLayout3.xml" ContentType="application/vnd.openxmlformats-officedocument.presentationml.slideLayout+xml"/>
  <ns0:Override PartName="/ppt/slideLayouts/slideLayout4.xml" ContentType="application/vnd.openxmlformats-officedocument.presentationml.slideLayout+xml"/>
  <ns0:Override PartName="/ppt/slideLayouts/slideLayout5.xml" ContentType="application/vnd.openxmlformats-officedocument.presentationml.slideLayout+xml"/>
  <ns0:Override PartName="/ppt/slideLayouts/slideLayout6.xml" ContentType="application/vnd.openxmlformats-officedocument.presentationml.slideLayout+xml"/>
  <ns0:Override PartName="/ppt/slideLayouts/slideLayout7.xml" ContentType="application/vnd.openxmlformats-officedocument.presentationml.slideLayout+xml"/>
  <ns0:Override PartName="/ppt/slideLayouts/slideLayout8.xml" ContentType="application/vnd.openxmlformats-officedocument.presentationml.slideLayout+xml"/>
  <ns0:Override PartName="/ppt/slideLayouts/slideLayout9.xml" ContentType="application/vnd.openxmlformats-officedocument.presentationml.slideLayout+xml"/>
  <ns0:Override PartName="/ppt/slideMasters/slideMaster1.xml" ContentType="application/vnd.openxmlformats-officedocument.presentationml.slideMaster+xml"/>
  <ns0:Override PartName="/ppt/slides/slide1.xml" ContentType="application/vnd.openxmlformats-officedocument.presentationml.slide+xml"/>
  <ns0:Override PartName="/ppt/slides/slide10.xml" ContentType="application/vnd.openxmlformats-officedocument.presentationml.slide+xml"/>
  <ns0:Override PartName="/ppt/slides/slide11.xml" ContentType="application/vnd.openxmlformats-officedocument.presentationml.slide+xml"/>
  <ns0:Override PartName="/ppt/slides/slide12.xml" ContentType="application/vnd.openxmlformats-officedocument.presentationml.slide+xml"/>
  <ns0:Override PartName="/ppt/slides/slide13.xml" ContentType="application/vnd.openxmlformats-officedocument.presentationml.slide+xml"/>
  <ns0:Override PartName="/ppt/slides/slide14.xml" ContentType="application/vnd.openxmlformats-officedocument.presentationml.slide+xml"/>
  <ns0:Override PartName="/ppt/slides/slide15.xml" ContentType="application/vnd.openxmlformats-officedocument.presentationml.slide+xml"/>
  <ns0:Override PartName="/ppt/slides/slide16.xml" ContentType="application/vnd.openxmlformats-officedocument.presentationml.slide+xml"/>
  <ns0:Override PartName="/ppt/slides/slide17.xml" ContentType="application/vnd.openxmlformats-officedocument.presentationml.slide+xml"/>
  <ns0:Override PartName="/ppt/slides/slide18.xml" ContentType="application/vnd.openxmlformats-officedocument.presentationml.slide+xml"/>
  <ns0:Override PartName="/ppt/slides/slide2.xml" ContentType="application/vnd.openxmlformats-officedocument.presentationml.slide+xml"/>
  <ns0:Override PartName="/ppt/slides/slide3.xml" ContentType="application/vnd.openxmlformats-officedocument.presentationml.slide+xml"/>
  <ns0:Override PartName="/ppt/slides/slide4.xml" ContentType="application/vnd.openxmlformats-officedocument.presentationml.slide+xml"/>
  <ns0:Override PartName="/ppt/slides/slide5.xml" ContentType="application/vnd.openxmlformats-officedocument.presentationml.slide+xml"/>
  <ns0:Override PartName="/ppt/slides/slide6.xml" ContentType="application/vnd.openxmlformats-officedocument.presentationml.slide+xml"/>
  <ns0:Override PartName="/ppt/slides/slide7.xml" ContentType="application/vnd.openxmlformats-officedocument.presentationml.slide+xml"/>
  <ns0:Override PartName="/ppt/slides/slide8.xml" ContentType="application/vnd.openxmlformats-officedocument.presentationml.slide+xml"/>
  <ns0:Override PartName="/ppt/slides/slide9.xml" ContentType="application/vnd.openxmlformats-officedocument.presentationml.slide+xml"/>
  <ns0:Override PartName="/ppt/tableStyles.xml" ContentType="application/vnd.openxmlformats-officedocument.presentationml.tableStyles+xml"/>
  <ns0:Override PartName="/ppt/theme/theme1.xml" ContentType="application/vnd.openxmlformats-officedocument.theme+xml"/>
  <ns0:Override PartName="/ppt/viewProps.xml" ContentType="application/vnd.openxmlformats-officedocument.presentationml.viewProps+xml"/>
  <ns0:Default Extension="fntdata" ContentType="application/x-fontdata"/>
</ns0: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ns0:presentation xmlns:ns0="http://schemas.openxmlformats.org/presentationml/2006/main" xmlns:ns1="http://schemas.openxmlformats.org/officeDocument/2006/relationships" xmlns:ns2="http://schemas.openxmlformats.org/drawingml/2006/main" saveSubsetFonts="1" autoCompressPictures="0" embedTrueTypeFonts="1">
  <ns0:sldMasterIdLst>
    <ns0:sldMasterId id="2147483648" ns1:id="rId1"/>
  </ns0:sldMasterIdLst>
  <ns0:sldIdLst>
    <ns0:sldId id="256" ns1:id="rId7"/>
    <ns0:sldId id="257" ns1:id="rId8"/>
    <ns0:sldId id="258" ns1:id="rId9"/>
    <ns0:sldId id="259" ns1:id="rId10"/>
    <ns0:sldId id="260" ns1:id="rId11"/>
    <ns0:sldId id="261" ns1:id="rId12"/>
    <ns0:sldId id="262" ns1:id="rId13"/>
    <ns0:sldId id="263" ns1:id="rId14"/>
    <ns0:sldId id="264" ns1:id="rId15"/>
    <ns0:sldId id="265" ns1:id="rId16"/>
    <ns0:sldId id="266" ns1:id="rId17"/>
    <ns0:sldId id="267" ns1:id="rId18"/>
    <ns0:sldId id="268" ns1:id="rId19"/>
    <ns0:sldId id="269" ns1:id="rId20"/>
    <ns0:sldId id="270" ns1:id="rId21"/>
    <ns0:sldId id="271" ns1:id="rId22"/>
    <ns0:sldId id="272" ns1:id="rId23"/>
    <ns0:sldId id="273" ns1:id="rId24"/>
  </ns0:sldIdLst>
  <ns0:sldSz cx="12192000" cy="6858000" type="screen4x3"/>
  <ns0:notesSz cx="6858000" cy="9144000"/>
  <ns0:embeddedFontLst>
    <ns0:embeddedFont>
      <ns0:font typeface="Inter"/>
      <ns0:bold ns1:id="rIdFont25"/>
      <ns0:regular ns1:id="rIdFont26"/>
    </ns0:embeddedFont>
  </ns0:embeddedFontLst>
  <ns0:defaultTextStyle>
    <ns2:defPPr>
      <ns2:defRPr lang="en-US"/>
    </ns2:defPPr>
    <ns2:lvl1pPr marL="0" algn="l" defTabSz="457200" rtl="0" eaLnBrk="1" latinLnBrk="0" hangingPunct="1">
      <ns2:defRPr sz="1800" kern="1200">
        <ns2:solidFill>
          <ns2:schemeClr val="tx1"/>
        </ns2:solidFill>
        <ns2:latin typeface="+mn-lt"/>
        <ns2:ea typeface="+mn-ea"/>
        <ns2:cs typeface="+mn-cs"/>
      </ns2:defRPr>
    </ns2:lvl1pPr>
    <ns2:lvl2pPr marL="457200" algn="l" defTabSz="457200" rtl="0" eaLnBrk="1" latinLnBrk="0" hangingPunct="1">
      <ns2:defRPr sz="1800" kern="1200">
        <ns2:solidFill>
          <ns2:schemeClr val="tx1"/>
        </ns2:solidFill>
        <ns2:latin typeface="+mn-lt"/>
        <ns2:ea typeface="+mn-ea"/>
        <ns2:cs typeface="+mn-cs"/>
      </ns2:defRPr>
    </ns2:lvl2pPr>
    <ns2:lvl3pPr marL="914400" algn="l" defTabSz="457200" rtl="0" eaLnBrk="1" latinLnBrk="0" hangingPunct="1">
      <ns2:defRPr sz="1800" kern="1200">
        <ns2:solidFill>
          <ns2:schemeClr val="tx1"/>
        </ns2:solidFill>
        <ns2:latin typeface="+mn-lt"/>
        <ns2:ea typeface="+mn-ea"/>
        <ns2:cs typeface="+mn-cs"/>
      </ns2:defRPr>
    </ns2:lvl3pPr>
    <ns2:lvl4pPr marL="1371600" algn="l" defTabSz="457200" rtl="0" eaLnBrk="1" latinLnBrk="0" hangingPunct="1">
      <ns2:defRPr sz="1800" kern="1200">
        <ns2:solidFill>
          <ns2:schemeClr val="tx1"/>
        </ns2:solidFill>
        <ns2:latin typeface="+mn-lt"/>
        <ns2:ea typeface="+mn-ea"/>
        <ns2:cs typeface="+mn-cs"/>
      </ns2:defRPr>
    </ns2:lvl4pPr>
    <ns2:lvl5pPr marL="1828800" algn="l" defTabSz="457200" rtl="0" eaLnBrk="1" latinLnBrk="0" hangingPunct="1">
      <ns2:defRPr sz="1800" kern="1200">
        <ns2:solidFill>
          <ns2:schemeClr val="tx1"/>
        </ns2:solidFill>
        <ns2:latin typeface="+mn-lt"/>
        <ns2:ea typeface="+mn-ea"/>
        <ns2:cs typeface="+mn-cs"/>
      </ns2:defRPr>
    </ns2:lvl5pPr>
    <ns2:lvl6pPr marL="2286000" algn="l" defTabSz="457200" rtl="0" eaLnBrk="1" latinLnBrk="0" hangingPunct="1">
      <ns2:defRPr sz="1800" kern="1200">
        <ns2:solidFill>
          <ns2:schemeClr val="tx1"/>
        </ns2:solidFill>
        <ns2:latin typeface="+mn-lt"/>
        <ns2:ea typeface="+mn-ea"/>
        <ns2:cs typeface="+mn-cs"/>
      </ns2:defRPr>
    </ns2:lvl6pPr>
    <ns2:lvl7pPr marL="2743200" algn="l" defTabSz="457200" rtl="0" eaLnBrk="1" latinLnBrk="0" hangingPunct="1">
      <ns2:defRPr sz="1800" kern="1200">
        <ns2:solidFill>
          <ns2:schemeClr val="tx1"/>
        </ns2:solidFill>
        <ns2:latin typeface="+mn-lt"/>
        <ns2:ea typeface="+mn-ea"/>
        <ns2:cs typeface="+mn-cs"/>
      </ns2:defRPr>
    </ns2:lvl7pPr>
    <ns2:lvl8pPr marL="3200400" algn="l" defTabSz="457200" rtl="0" eaLnBrk="1" latinLnBrk="0" hangingPunct="1">
      <ns2:defRPr sz="1800" kern="1200">
        <ns2:solidFill>
          <ns2:schemeClr val="tx1"/>
        </ns2:solidFill>
        <ns2:latin typeface="+mn-lt"/>
        <ns2:ea typeface="+mn-ea"/>
        <ns2:cs typeface="+mn-cs"/>
      </ns2:defRPr>
    </ns2:lvl8pPr>
    <ns2:lvl9pPr marL="3657600" algn="l" defTabSz="457200" rtl="0" eaLnBrk="1" latinLnBrk="0" hangingPunct="1">
      <ns2:defRPr sz="1800" kern="1200">
        <ns2:solidFill>
          <ns2:schemeClr val="tx1"/>
        </ns2:solidFill>
        <ns2:latin typeface="+mn-lt"/>
        <ns2:ea typeface="+mn-ea"/>
        <ns2:cs typeface="+mn-cs"/>
      </ns2:defRPr>
    </ns2:lvl9pPr>
  </ns0:defaultTextStyle>
</ns0: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ns0:Relationships xmlns:ns0="http://schemas.openxmlformats.org/package/2006/relationships"><ns0:Relationship Id="rId1" Type="http://schemas.openxmlformats.org/officeDocument/2006/relationships/slideMaster" Target="slideMasters/slideMaster1.xml" /><ns0:Relationship Id="rId2" Type="http://schemas.openxmlformats.org/officeDocument/2006/relationships/printerSettings" Target="printerSettings/printerSettings1.bin" /><ns0:Relationship Id="rId3" Type="http://schemas.openxmlformats.org/officeDocument/2006/relationships/presProps" Target="presProps.xml" /><ns0:Relationship Id="rId4" Type="http://schemas.openxmlformats.org/officeDocument/2006/relationships/viewProps" Target="viewProps.xml" /><ns0:Relationship Id="rId5" Type="http://schemas.openxmlformats.org/officeDocument/2006/relationships/theme" Target="theme/theme1.xml" /><ns0:Relationship Id="rId6" Type="http://schemas.openxmlformats.org/officeDocument/2006/relationships/tableStyles" Target="tableStyles.xml" /><ns0:Relationship Id="rId7" Type="http://schemas.openxmlformats.org/officeDocument/2006/relationships/slide" Target="slides/slide1.xml" /><ns0:Relationship Id="rId8" Type="http://schemas.openxmlformats.org/officeDocument/2006/relationships/slide" Target="slides/slide2.xml" /><ns0:Relationship Id="rId9" Type="http://schemas.openxmlformats.org/officeDocument/2006/relationships/slide" Target="slides/slide3.xml" /><ns0:Relationship Id="rId10" Type="http://schemas.openxmlformats.org/officeDocument/2006/relationships/slide" Target="slides/slide4.xml" /><ns0:Relationship Id="rId11" Type="http://schemas.openxmlformats.org/officeDocument/2006/relationships/slide" Target="slides/slide5.xml" /><ns0:Relationship Id="rId12" Type="http://schemas.openxmlformats.org/officeDocument/2006/relationships/slide" Target="slides/slide6.xml" /><ns0:Relationship Id="rId13" Type="http://schemas.openxmlformats.org/officeDocument/2006/relationships/slide" Target="slides/slide7.xml" /><ns0:Relationship Id="rId14" Type="http://schemas.openxmlformats.org/officeDocument/2006/relationships/slide" Target="slides/slide8.xml" /><ns0:Relationship Id="rId15" Type="http://schemas.openxmlformats.org/officeDocument/2006/relationships/slide" Target="slides/slide9.xml" /><ns0:Relationship Id="rId16" Type="http://schemas.openxmlformats.org/officeDocument/2006/relationships/slide" Target="slides/slide10.xml" /><ns0:Relationship Id="rId17" Type="http://schemas.openxmlformats.org/officeDocument/2006/relationships/slide" Target="slides/slide11.xml" /><ns0:Relationship Id="rId18" Type="http://schemas.openxmlformats.org/officeDocument/2006/relationships/slide" Target="slides/slide12.xml" /><ns0:Relationship Id="rId19" Type="http://schemas.openxmlformats.org/officeDocument/2006/relationships/slide" Target="slides/slide13.xml" /><ns0:Relationship Id="rId20" Type="http://schemas.openxmlformats.org/officeDocument/2006/relationships/slide" Target="slides/slide14.xml" /><ns0:Relationship Id="rId21" Type="http://schemas.openxmlformats.org/officeDocument/2006/relationships/slide" Target="slides/slide15.xml" /><ns0:Relationship Id="rId22" Type="http://schemas.openxmlformats.org/officeDocument/2006/relationships/slide" Target="slides/slide16.xml" /><ns0:Relationship Id="rId23" Type="http://schemas.openxmlformats.org/officeDocument/2006/relationships/slide" Target="slides/slide17.xml" /><ns0:Relationship Id="rId24" Type="http://schemas.openxmlformats.org/officeDocument/2006/relationships/slide" Target="slides/slide18.xml" /><ns0:Relationship Id="rIdFont25" Type="http://schemas.openxmlformats.org/officeDocument/2006/relationships/font" Target="fonts/d675a6b7-d2d8-456d-9ce3-dbc5cffc0178.fntdata" /><ns0:Relationship Id="rIdFont26" Type="http://schemas.openxmlformats.org/officeDocument/2006/relationships/font" Target="fonts/bcc11bd2-c8e9-43c9-94f3-d3f4b56b2f86.fntdata" /></ns0: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2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609600" y="4165252"/>
            <a:ext cx="8572500" cy="876300"/>
          </a:xfrm>
          <a:prstGeom prst="roundRect">
            <a:avLst>
              <a:gd name="adj" fmla="val 13043"/>
            </a:avLst>
          </a:prstGeom>
          <a:solidFill>
            <a:srgbClr val="1E293B"/>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09600" y="1816447"/>
            <a:ext cx="872132" cy="266700"/>
          </a:xfrm>
          <a:prstGeom prst="roundRect">
            <a:avLst>
              <a:gd name="adj" fmla="val 21428"/>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tretch>
            <a:fillRect/>
          </a:stretch>
        </p:blipFill>
        <p:spPr>
          <a:xfrm>
            <a:off x="923925" y="4631977"/>
            <a:ext cx="190500" cy="152400"/>
          </a:xfrm>
          <a:prstGeom prst="rect">
            <a:avLst/>
          </a:prstGeom>
        </p:spPr>
      </p:pic>
      <p:pic>
        <p:nvPicPr>
          <p:cNvPr id="5" name="Picture 4" descr="image.png"/>
          <p:cNvPicPr>
            <a:picLocks noChangeAspect="1"/>
          </p:cNvPicPr>
          <p:nvPr/>
        </p:nvPicPr>
        <p:blipFill>
          <a:blip r:embed="rId3"/>
          <a:stretch>
            <a:fillRect/>
          </a:stretch>
        </p:blipFill>
        <p:spPr>
          <a:xfrm>
            <a:off x="3984575" y="4631977"/>
            <a:ext cx="123825" cy="142875"/>
          </a:xfrm>
          <a:prstGeom prst="rect">
            <a:avLst/>
          </a:prstGeom>
        </p:spPr>
      </p:pic>
      <p:pic>
        <p:nvPicPr>
          <p:cNvPr id="6" name="Picture 5" descr="image.png"/>
          <p:cNvPicPr>
            <a:picLocks noChangeAspect="1"/>
          </p:cNvPicPr>
          <p:nvPr/>
        </p:nvPicPr>
        <p:blipFill>
          <a:blip r:embed="rId3"/>
          <a:stretch>
            <a:fillRect/>
          </a:stretch>
        </p:blipFill>
        <p:spPr>
          <a:xfrm>
            <a:off x="5822900" y="4631977"/>
            <a:ext cx="123825" cy="142875"/>
          </a:xfrm>
          <a:prstGeom prst="rect">
            <a:avLst/>
          </a:prstGeom>
        </p:spPr>
      </p:pic>
      <p:pic>
        <p:nvPicPr>
          <p:cNvPr id="7" name="Picture 6" descr="image.png"/>
          <p:cNvPicPr>
            <a:picLocks noChangeAspect="1"/>
          </p:cNvPicPr>
          <p:nvPr/>
        </p:nvPicPr>
        <p:blipFill>
          <a:blip r:embed="rId3"/>
          <a:stretch>
            <a:fillRect/>
          </a:stretch>
        </p:blipFill>
        <p:spPr>
          <a:xfrm>
            <a:off x="7537400" y="4631977"/>
            <a:ext cx="123825" cy="142875"/>
          </a:xfrm>
          <a:prstGeom prst="rect">
            <a:avLst/>
          </a:prstGeom>
        </p:spPr>
      </p:pic>
      <p:sp>
        <p:nvSpPr>
          <p:cNvPr id="8" name="TextBox 7"/>
          <p:cNvSpPr txBox="1"/>
          <p:nvPr/>
        </p:nvSpPr>
        <p:spPr>
          <a:xfrm>
            <a:off x="609600" y="2273647"/>
            <a:ext cx="9101137" cy="1139130"/>
          </a:xfrm>
          <a:prstGeom prst="rect">
            <a:avLst/>
          </a:prstGeom>
          <a:noFill/>
        </p:spPr>
        <p:txBody>
          <a:bodyPr wrap="square" lIns="0" rIns="0" tIns="0" bIns="0" anchor="t">
            <a:spAutoFit/>
          </a:bodyPr>
          <a:lstStyle/>
          <a:p>
            <a:pPr algn="l">
              <a:lnSpc>
                <a:spcPts val="4484"/>
              </a:lnSpc>
            </a:pPr>
            <a:r>
              <a:rPr b="1" sz="3900" i="0" u="none">
                <a:solidFill>
                  <a:srgbClr val="FFFFFF"/>
                </a:solidFill>
                <a:latin typeface="Inter"/>
              </a:rPr>
              <a:t>CashewDoc — Quản lý tài liệu đa nền tảng</a:t>
            </a:r>
          </a:p>
        </p:txBody>
      </p:sp>
      <p:sp>
        <p:nvSpPr>
          <p:cNvPr id="9" name="TextBox 8"/>
          <p:cNvSpPr txBox="1"/>
          <p:nvPr/>
        </p:nvSpPr>
        <p:spPr>
          <a:xfrm>
            <a:off x="609600" y="3565177"/>
            <a:ext cx="9525000" cy="257175"/>
          </a:xfrm>
          <a:prstGeom prst="rect">
            <a:avLst/>
          </a:prstGeom>
          <a:noFill/>
        </p:spPr>
        <p:txBody>
          <a:bodyPr wrap="none" lIns="0" rIns="0" tIns="0" bIns="0" anchor="t">
            <a:spAutoFit/>
          </a:bodyPr>
          <a:lstStyle/>
          <a:p>
            <a:pPr algn="l">
              <a:lnSpc>
                <a:spcPts val="2025"/>
              </a:lnSpc>
            </a:pPr>
            <a:r>
              <a:rPr b="0" sz="1350" i="0" u="none">
                <a:solidFill>
                  <a:srgbClr val="CBD5E1"/>
                </a:solidFill>
                <a:latin typeface="Inter"/>
              </a:rPr>
              <a:t>Phạm vi báo cáo: kết quả thực hiện, tích hợp hybrid và kiểm chứng đến 24/10/2026.</a:t>
            </a:r>
          </a:p>
        </p:txBody>
      </p:sp>
      <p:sp>
        <p:nvSpPr>
          <p:cNvPr id="10" name="TextBox 9"/>
          <p:cNvSpPr txBox="1"/>
          <p:nvPr/>
        </p:nvSpPr>
        <p:spPr>
          <a:xfrm>
            <a:off x="742950" y="1873597"/>
            <a:ext cx="700682" cy="152400"/>
          </a:xfrm>
          <a:prstGeom prst="rect">
            <a:avLst/>
          </a:prstGeom>
          <a:noFill/>
        </p:spPr>
        <p:txBody>
          <a:bodyPr wrap="square" lIns="0" rIns="0" tIns="0" bIns="0" anchor="t">
            <a:spAutoFit/>
          </a:bodyPr>
          <a:lstStyle/>
          <a:p>
            <a:pPr algn="l"/>
            <a:r>
              <a:rPr b="1" sz="975" i="0" u="none">
                <a:solidFill>
                  <a:srgbClr val="FFFFFF"/>
                </a:solidFill>
                <a:latin typeface="Inter"/>
              </a:rPr>
              <a:t>NHÓM 15</a:t>
            </a:r>
          </a:p>
        </p:txBody>
      </p:sp>
      <p:sp>
        <p:nvSpPr>
          <p:cNvPr id="11" name="TextBox 10"/>
          <p:cNvSpPr txBox="1"/>
          <p:nvPr/>
        </p:nvSpPr>
        <p:spPr>
          <a:xfrm>
            <a:off x="1596032" y="1859309"/>
            <a:ext cx="4095750" cy="180975"/>
          </a:xfrm>
          <a:prstGeom prst="rect">
            <a:avLst/>
          </a:prstGeom>
          <a:noFill/>
        </p:spPr>
        <p:txBody>
          <a:bodyPr wrap="none" lIns="0" rIns="0" tIns="0" bIns="0" anchor="t">
            <a:spAutoFit/>
          </a:bodyPr>
          <a:lstStyle/>
          <a:p>
            <a:pPr algn="l"/>
            <a:r>
              <a:rPr b="0" sz="1125" i="0" u="none">
                <a:solidFill>
                  <a:srgbClr val="94A3B8"/>
                </a:solidFill>
                <a:latin typeface="Inter"/>
              </a:rPr>
              <a:t>Bài thực hành TH2 · Flutter &amp; Cloud Architecture</a:t>
            </a:r>
          </a:p>
        </p:txBody>
      </p:sp>
      <p:sp>
        <p:nvSpPr>
          <p:cNvPr id="12" name="TextBox 11"/>
          <p:cNvSpPr txBox="1"/>
          <p:nvPr/>
        </p:nvSpPr>
        <p:spPr>
          <a:xfrm>
            <a:off x="923925" y="4403377"/>
            <a:ext cx="3051906" cy="152400"/>
          </a:xfrm>
          <a:prstGeom prst="rect">
            <a:avLst/>
          </a:prstGeom>
          <a:noFill/>
        </p:spPr>
        <p:txBody>
          <a:bodyPr wrap="none" lIns="0" rIns="0" tIns="0" bIns="0" anchor="t">
            <a:spAutoFit/>
          </a:bodyPr>
          <a:lstStyle/>
          <a:p>
            <a:pPr algn="l"/>
            <a:r>
              <a:rPr b="0" sz="975" i="0" u="none">
                <a:solidFill>
                  <a:srgbClr val="94A3B8"/>
                </a:solidFill>
                <a:latin typeface="Inter"/>
              </a:rPr>
              <a:t>NHÓM TRƯỞNG</a:t>
            </a:r>
          </a:p>
        </p:txBody>
      </p:sp>
      <p:sp>
        <p:nvSpPr>
          <p:cNvPr id="13" name="TextBox 12"/>
          <p:cNvSpPr txBox="1"/>
          <p:nvPr/>
        </p:nvSpPr>
        <p:spPr>
          <a:xfrm>
            <a:off x="923925" y="4612927"/>
            <a:ext cx="3051906" cy="190500"/>
          </a:xfrm>
          <a:prstGeom prst="rect">
            <a:avLst/>
          </a:prstGeom>
          <a:noFill/>
        </p:spPr>
        <p:txBody>
          <a:bodyPr wrap="none" lIns="266700" rIns="0" tIns="0" bIns="0" anchor="t">
            <a:spAutoFit/>
          </a:bodyPr>
          <a:lstStyle/>
          <a:p>
            <a:pPr algn="l"/>
            <a:r>
              <a:rPr b="1" sz="1200" i="0" u="none">
                <a:solidFill>
                  <a:srgbClr val="FFFFFF"/>
                </a:solidFill>
                <a:latin typeface="Inter"/>
              </a:rPr>
              <a:t>Dương Nguyên Anh</a:t>
            </a:r>
          </a:p>
        </p:txBody>
      </p:sp>
      <p:sp>
        <p:nvSpPr>
          <p:cNvPr id="14" name="TextBox 13"/>
          <p:cNvSpPr txBox="1"/>
          <p:nvPr/>
        </p:nvSpPr>
        <p:spPr>
          <a:xfrm>
            <a:off x="3984575" y="4403377"/>
            <a:ext cx="6103999" cy="152400"/>
          </a:xfrm>
          <a:prstGeom prst="rect">
            <a:avLst/>
          </a:prstGeom>
          <a:noFill/>
        </p:spPr>
        <p:txBody>
          <a:bodyPr wrap="none" lIns="0" rIns="0" tIns="0" bIns="0" anchor="t">
            <a:spAutoFit/>
          </a:bodyPr>
          <a:lstStyle/>
          <a:p>
            <a:pPr algn="l"/>
            <a:r>
              <a:rPr b="0" sz="975" i="0" u="none">
                <a:solidFill>
                  <a:srgbClr val="94A3B8"/>
                </a:solidFill>
                <a:latin typeface="Inter"/>
              </a:rPr>
              <a:t>THÀNH VIÊN THAM GIA</a:t>
            </a:r>
          </a:p>
        </p:txBody>
      </p:sp>
      <p:sp>
        <p:nvSpPr>
          <p:cNvPr id="15" name="TextBox 14"/>
          <p:cNvSpPr txBox="1"/>
          <p:nvPr/>
        </p:nvSpPr>
        <p:spPr>
          <a:xfrm>
            <a:off x="3984575" y="4612927"/>
            <a:ext cx="2012156" cy="180975"/>
          </a:xfrm>
          <a:prstGeom prst="rect">
            <a:avLst/>
          </a:prstGeom>
          <a:noFill/>
        </p:spPr>
        <p:txBody>
          <a:bodyPr wrap="none" lIns="180975" rIns="0" tIns="0" bIns="0" anchor="t">
            <a:spAutoFit/>
          </a:bodyPr>
          <a:lstStyle/>
          <a:p>
            <a:pPr algn="l"/>
            <a:r>
              <a:rPr b="0" sz="1125" i="0" u="none">
                <a:solidFill>
                  <a:srgbClr val="E2E8F0"/>
                </a:solidFill>
                <a:latin typeface="Inter"/>
              </a:rPr>
              <a:t>Nguyễn Thị Thu Hoài</a:t>
            </a:r>
          </a:p>
        </p:txBody>
      </p:sp>
      <p:sp>
        <p:nvSpPr>
          <p:cNvPr id="16" name="TextBox 15"/>
          <p:cNvSpPr txBox="1"/>
          <p:nvPr/>
        </p:nvSpPr>
        <p:spPr>
          <a:xfrm>
            <a:off x="5822900" y="4612927"/>
            <a:ext cx="1857375" cy="180975"/>
          </a:xfrm>
          <a:prstGeom prst="rect">
            <a:avLst/>
          </a:prstGeom>
          <a:noFill/>
        </p:spPr>
        <p:txBody>
          <a:bodyPr wrap="none" lIns="180975" rIns="0" tIns="0" bIns="0" anchor="t">
            <a:spAutoFit/>
          </a:bodyPr>
          <a:lstStyle/>
          <a:p>
            <a:pPr algn="l"/>
            <a:r>
              <a:rPr b="0" sz="1125" i="0" u="none">
                <a:solidFill>
                  <a:srgbClr val="E2E8F0"/>
                </a:solidFill>
                <a:latin typeface="Inter"/>
              </a:rPr>
              <a:t>Nguyễn Thị Cẩm Ly</a:t>
            </a:r>
          </a:p>
        </p:txBody>
      </p:sp>
      <p:sp>
        <p:nvSpPr>
          <p:cNvPr id="17" name="TextBox 16"/>
          <p:cNvSpPr txBox="1"/>
          <p:nvPr/>
        </p:nvSpPr>
        <p:spPr>
          <a:xfrm>
            <a:off x="7537400" y="4612927"/>
            <a:ext cx="1619250" cy="180975"/>
          </a:xfrm>
          <a:prstGeom prst="rect">
            <a:avLst/>
          </a:prstGeom>
          <a:noFill/>
        </p:spPr>
        <p:txBody>
          <a:bodyPr wrap="none" lIns="180975" rIns="0" tIns="0" bIns="0" anchor="t">
            <a:spAutoFit/>
          </a:bodyPr>
          <a:lstStyle/>
          <a:p>
            <a:pPr algn="l"/>
            <a:r>
              <a:rPr b="0" sz="1125" i="0" u="none">
                <a:solidFill>
                  <a:srgbClr val="E2E8F0"/>
                </a:solidFill>
                <a:latin typeface="Inter"/>
              </a:rPr>
              <a:t>Phạm Hồng Thái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1514475"/>
            <a:ext cx="5353050" cy="4810125"/>
          </a:xfrm>
          <a:prstGeom prst="roundRect">
            <a:avLst>
              <a:gd name="adj" fmla="val 2376"/>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229350" y="1514475"/>
            <a:ext cx="5353050" cy="4810125"/>
          </a:xfrm>
          <a:prstGeom prst="roundRect">
            <a:avLst>
              <a:gd name="adj" fmla="val 2376"/>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tretch>
            <a:fillRect/>
          </a:stretch>
        </p:blipFill>
        <p:spPr>
          <a:xfrm>
            <a:off x="923925" y="3058566"/>
            <a:ext cx="457200" cy="457200"/>
          </a:xfrm>
          <a:prstGeom prst="rect">
            <a:avLst/>
          </a:prstGeom>
        </p:spPr>
      </p:pic>
      <p:pic>
        <p:nvPicPr>
          <p:cNvPr id="5" name="Picture 4" descr="image.png"/>
          <p:cNvPicPr>
            <a:picLocks noChangeAspect="1"/>
          </p:cNvPicPr>
          <p:nvPr/>
        </p:nvPicPr>
        <p:blipFill>
          <a:blip r:embed="rId3"/>
          <a:stretch>
            <a:fillRect/>
          </a:stretch>
        </p:blipFill>
        <p:spPr>
          <a:xfrm>
            <a:off x="6543675" y="3058566"/>
            <a:ext cx="457200" cy="457200"/>
          </a:xfrm>
          <a:prstGeom prst="rect">
            <a:avLst/>
          </a:prstGeom>
        </p:spPr>
      </p:pic>
      <p:pic>
        <p:nvPicPr>
          <p:cNvPr id="6" name="Picture 5" descr="image.png"/>
          <p:cNvPicPr>
            <a:picLocks noChangeAspect="1"/>
          </p:cNvPicPr>
          <p:nvPr/>
        </p:nvPicPr>
        <p:blipFill>
          <a:blip r:embed="rId4"/>
          <a:stretch>
            <a:fillRect/>
          </a:stretch>
        </p:blipFill>
        <p:spPr>
          <a:xfrm>
            <a:off x="1057275" y="3191916"/>
            <a:ext cx="190500" cy="190500"/>
          </a:xfrm>
          <a:prstGeom prst="rect">
            <a:avLst/>
          </a:prstGeom>
        </p:spPr>
      </p:pic>
      <p:pic>
        <p:nvPicPr>
          <p:cNvPr id="7" name="Picture 6" descr="image.png"/>
          <p:cNvPicPr>
            <a:picLocks noChangeAspect="1"/>
          </p:cNvPicPr>
          <p:nvPr/>
        </p:nvPicPr>
        <p:blipFill>
          <a:blip r:embed="rId5"/>
          <a:stretch>
            <a:fillRect/>
          </a:stretch>
        </p:blipFill>
        <p:spPr>
          <a:xfrm>
            <a:off x="6677025" y="3191916"/>
            <a:ext cx="190500" cy="190500"/>
          </a:xfrm>
          <a:prstGeom prst="rect">
            <a:avLst/>
          </a:prstGeom>
        </p:spPr>
      </p:pic>
      <p:sp>
        <p:nvSpPr>
          <p:cNvPr id="8" name="TextBox 7"/>
          <p:cNvSpPr txBox="1"/>
          <p:nvPr/>
        </p:nvSpPr>
        <p:spPr>
          <a:xfrm>
            <a:off x="609600" y="533400"/>
            <a:ext cx="11582400" cy="371475"/>
          </a:xfrm>
          <a:prstGeom prst="rect">
            <a:avLst/>
          </a:prstGeom>
          <a:noFill/>
        </p:spPr>
        <p:txBody>
          <a:bodyPr wrap="none" lIns="0" rIns="0" tIns="0" bIns="0" anchor="t">
            <a:spAutoFit/>
          </a:bodyPr>
          <a:lstStyle/>
          <a:p>
            <a:pPr algn="l"/>
            <a:r>
              <a:rPr b="1" sz="2400" i="0" u="none">
                <a:solidFill>
                  <a:srgbClr val="0F172A"/>
                </a:solidFill>
                <a:latin typeface="Inter"/>
              </a:rPr>
              <a:t>Bài toán và nền tảng kế thừa</a:t>
            </a:r>
          </a:p>
        </p:txBody>
      </p:sp>
      <p:sp>
        <p:nvSpPr>
          <p:cNvPr id="9" name="TextBox 8"/>
          <p:cNvSpPr txBox="1"/>
          <p:nvPr/>
        </p:nvSpPr>
        <p:spPr>
          <a:xfrm>
            <a:off x="609600" y="1019175"/>
            <a:ext cx="11582400" cy="190500"/>
          </a:xfrm>
          <a:prstGeom prst="rect">
            <a:avLst/>
          </a:prstGeom>
          <a:noFill/>
        </p:spPr>
        <p:txBody>
          <a:bodyPr wrap="none" lIns="0" rIns="0" tIns="0" bIns="0" anchor="t">
            <a:spAutoFit/>
          </a:bodyPr>
          <a:lstStyle/>
          <a:p>
            <a:pPr algn="l"/>
            <a:r>
              <a:rPr b="0" sz="1200" i="0" u="none">
                <a:solidFill>
                  <a:srgbClr val="64748B"/>
                </a:solidFill>
                <a:latin typeface="Inter"/>
              </a:rPr>
              <a:t>Từ thư viện cá nhân đơn lẻ lên hệ thống quản lý tài liệu có tương tác Cloud.</a:t>
            </a:r>
          </a:p>
        </p:txBody>
      </p:sp>
      <p:sp>
        <p:nvSpPr>
          <p:cNvPr id="10" name="TextBox 9"/>
          <p:cNvSpPr txBox="1"/>
          <p:nvPr/>
        </p:nvSpPr>
        <p:spPr>
          <a:xfrm>
            <a:off x="923925" y="3706266"/>
            <a:ext cx="6200775" cy="228600"/>
          </a:xfrm>
          <a:prstGeom prst="rect">
            <a:avLst/>
          </a:prstGeom>
          <a:noFill/>
        </p:spPr>
        <p:txBody>
          <a:bodyPr wrap="none" lIns="0" rIns="0" tIns="0" bIns="0" anchor="t">
            <a:spAutoFit/>
          </a:bodyPr>
          <a:lstStyle/>
          <a:p>
            <a:pPr algn="l"/>
            <a:r>
              <a:rPr b="1" sz="1500" i="0" u="none">
                <a:solidFill>
                  <a:srgbClr val="0F172A"/>
                </a:solidFill>
                <a:latin typeface="Inter"/>
              </a:rPr>
              <a:t>Thực trạng TH1</a:t>
            </a:r>
          </a:p>
        </p:txBody>
      </p:sp>
      <p:sp>
        <p:nvSpPr>
          <p:cNvPr id="11" name="TextBox 10"/>
          <p:cNvSpPr txBox="1"/>
          <p:nvPr/>
        </p:nvSpPr>
        <p:spPr>
          <a:xfrm>
            <a:off x="923925" y="4049166"/>
            <a:ext cx="4819650" cy="731341"/>
          </a:xfrm>
          <a:prstGeom prst="rect">
            <a:avLst/>
          </a:prstGeom>
          <a:noFill/>
        </p:spPr>
        <p:txBody>
          <a:bodyPr wrap="square" lIns="0" rIns="0" tIns="0" bIns="0" anchor="t">
            <a:spAutoFit/>
          </a:bodyPr>
          <a:lstStyle/>
          <a:p>
            <a:pPr algn="l">
              <a:lnSpc>
                <a:spcPts val="1920"/>
              </a:lnSpc>
            </a:pPr>
            <a:r>
              <a:rPr b="0" sz="1200" i="0" u="none">
                <a:solidFill>
                  <a:srgbClr val="475569"/>
                </a:solidFill>
                <a:latin typeface="Inter"/>
              </a:rPr>
              <a:t>Tài liệu học tập phân tán, khó tìm đúng nội dung và vị trí lưu trữ. Thư viện cục bộ đáp ứng CRUD nhưng hạn chế chia sẻ giữa nhiều người dùng.</a:t>
            </a:r>
          </a:p>
        </p:txBody>
      </p:sp>
      <p:sp>
        <p:nvSpPr>
          <p:cNvPr id="12" name="TextBox 11"/>
          <p:cNvSpPr txBox="1"/>
          <p:nvPr/>
        </p:nvSpPr>
        <p:spPr>
          <a:xfrm>
            <a:off x="6543675" y="3706266"/>
            <a:ext cx="5648325" cy="228600"/>
          </a:xfrm>
          <a:prstGeom prst="rect">
            <a:avLst/>
          </a:prstGeom>
          <a:noFill/>
        </p:spPr>
        <p:txBody>
          <a:bodyPr wrap="none" lIns="0" rIns="0" tIns="0" bIns="0" anchor="t">
            <a:spAutoFit/>
          </a:bodyPr>
          <a:lstStyle/>
          <a:p>
            <a:pPr algn="l"/>
            <a:r>
              <a:rPr b="1" sz="1500" i="0" u="none">
                <a:solidFill>
                  <a:srgbClr val="0F172A"/>
                </a:solidFill>
                <a:latin typeface="Inter"/>
              </a:rPr>
              <a:t>Định hướng TH2</a:t>
            </a:r>
          </a:p>
        </p:txBody>
      </p:sp>
      <p:sp>
        <p:nvSpPr>
          <p:cNvPr id="13" name="TextBox 12"/>
          <p:cNvSpPr txBox="1"/>
          <p:nvPr/>
        </p:nvSpPr>
        <p:spPr>
          <a:xfrm>
            <a:off x="6543675" y="4049166"/>
            <a:ext cx="4819650" cy="731341"/>
          </a:xfrm>
          <a:prstGeom prst="rect">
            <a:avLst/>
          </a:prstGeom>
          <a:noFill/>
        </p:spPr>
        <p:txBody>
          <a:bodyPr wrap="square" lIns="0" rIns="0" tIns="0" bIns="0" anchor="t">
            <a:spAutoFit/>
          </a:bodyPr>
          <a:lstStyle/>
          <a:p>
            <a:pPr algn="l">
              <a:lnSpc>
                <a:spcPts val="1920"/>
              </a:lnSpc>
            </a:pPr>
            <a:r>
              <a:rPr b="0" sz="1200" i="0" u="none">
                <a:solidFill>
                  <a:srgbClr val="475569"/>
                </a:solidFill>
                <a:latin typeface="Inter"/>
              </a:rPr>
              <a:t>Kế thừa SQLite, UUID, soft-delete và phân lớp. Bổ sung xác thực Firebase, lưu trữ Supabase Cloud, phân quyền người dùng và khả năng tương tác trực tuyến.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390775"/>
            <a:ext cx="10972800" cy="2981325"/>
          </a:xfrm>
          <a:prstGeom prst="roundRect">
            <a:avLst>
              <a:gd name="adj" fmla="val 0"/>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3" name="Table 2"/>
          <p:cNvGraphicFramePr>
            <a:graphicFrameLocks noGrp="1"/>
          </p:cNvGraphicFramePr>
          <p:nvPr/>
        </p:nvGraphicFramePr>
        <p:xfrm>
          <a:off x="609600" y="2390775"/>
          <a:ext cx="10963274" cy="2981325"/>
        </p:xfrm>
        <a:graphic>
          <a:graphicData uri="http://schemas.openxmlformats.org/drawingml/2006/table">
            <a:tbl>
              <a:tblPr firstRow="0" bandRow="0">
                <a:lnL>
                  <a:noFill/>
                </a:lnL>
                <a:lnR>
                  <a:noFill/>
                </a:lnR>
                <a:lnT>
                  <a:noFill/>
                </a:lnT>
                <a:lnB>
                  <a:noFill/>
                </a:lnB>
                <a:lnV>
                  <a:noFill/>
                </a:lnV>
                <a:lnH>
                  <a:noFill/>
                </a:lnH>
              </a:tblPr>
              <a:tblGrid>
                <a:gridCol w="2740818"/>
                <a:gridCol w="8222456"/>
              </a:tblGrid>
              <a:tr h="496887">
                <a:tc>
                  <a:txBody>
                    <a:bodyPr/>
                    <a:lstStyle/>
                    <a:p>
                      <a:pPr algn="l"/>
                      <a:r>
                        <a:rPr b="1" sz="1125" i="0" u="none">
                          <a:solidFill>
                            <a:srgbClr val="334155"/>
                          </a:solidFill>
                          <a:latin typeface="Inter"/>
                        </a:rPr>
                        <a:t>Yêu cầu đề bài</a:t>
                      </a:r>
                    </a:p>
                  </a:txBody>
                  <a:tcPr anchor="ctr" marL="63500" marR="63500" marT="25400" marB="25400">
                    <a:lnL>
                      <a:noFill/>
                    </a:lnL>
                    <a:lnR>
                      <a:noFill/>
                    </a:lnR>
                    <a:lnT>
                      <a:noFill/>
                    </a:lnT>
                    <a:lnB>
                      <a:noFill/>
                    </a:lnB>
                    <a:solidFill>
                      <a:srgbClr val="F8FAFC"/>
                    </a:solidFill>
                  </a:tcPr>
                </a:tc>
                <a:tc>
                  <a:txBody>
                    <a:bodyPr/>
                    <a:lstStyle/>
                    <a:p>
                      <a:pPr algn="l"/>
                      <a:r>
                        <a:rPr b="1" sz="1125" i="0" u="none">
                          <a:solidFill>
                            <a:srgbClr val="334155"/>
                          </a:solidFill>
                          <a:latin typeface="Inter"/>
                        </a:rPr>
                        <a:t>Phần đã xây dựng &amp; kiểm chứng</a:t>
                      </a:r>
                    </a:p>
                  </a:txBody>
                  <a:tcPr anchor="ctr" marL="63500" marR="63500" marT="25400" marB="25400">
                    <a:lnL>
                      <a:noFill/>
                    </a:lnL>
                    <a:lnR>
                      <a:noFill/>
                    </a:lnR>
                    <a:lnT>
                      <a:noFill/>
                    </a:lnT>
                    <a:lnB>
                      <a:noFill/>
                    </a:lnB>
                    <a:solidFill>
                      <a:srgbClr val="F8FAFC"/>
                    </a:solidFill>
                  </a:tcPr>
                </a:tc>
              </a:tr>
              <a:tr h="496887">
                <a:tc>
                  <a:txBody>
                    <a:bodyPr/>
                    <a:lstStyle/>
                    <a:p>
                      <a:pPr algn="l"/>
                      <a:r>
                        <a:rPr b="1" sz="1125" i="0" u="none">
                          <a:solidFill>
                            <a:srgbClr val="0F172A"/>
                          </a:solidFill>
                          <a:latin typeface="Inter"/>
                        </a:rPr>
                        <a:t>Kiến trúc hybrid</a:t>
                      </a:r>
                    </a:p>
                  </a:txBody>
                  <a:tcPr anchor="ctr" marL="63500" marR="63500" marT="25400" marB="25400">
                    <a:lnL>
                      <a:noFill/>
                    </a:lnL>
                    <a:lnR>
                      <a:noFill/>
                    </a:lnR>
                    <a:lnT>
                      <a:noFill/>
                    </a:lnT>
                    <a:lnB>
                      <a:noFill/>
                    </a:lnB>
                    <a:solidFill>
                      <a:srgbClr val="FFFFFF"/>
                    </a:solidFill>
                  </a:tcPr>
                </a:tc>
                <a:tc>
                  <a:txBody>
                    <a:bodyPr/>
                    <a:lstStyle/>
                    <a:p>
                      <a:pPr algn="l"/>
                      <a:r>
                        <a:rPr b="0" sz="1125" i="0" u="none">
                          <a:solidFill>
                            <a:srgbClr val="475569"/>
                          </a:solidFill>
                          <a:latin typeface="Inter"/>
                        </a:rPr>
                        <a:t>Firebase UID/JWT; Supabase schema, Storage và Row Level Security (RLS).</a:t>
                      </a:r>
                    </a:p>
                  </a:txBody>
                  <a:tcPr anchor="ctr" marL="63500" marR="63500" marT="25400" marB="25400">
                    <a:lnL>
                      <a:noFill/>
                    </a:lnL>
                    <a:lnR>
                      <a:noFill/>
                    </a:lnR>
                    <a:lnT>
                      <a:noFill/>
                    </a:lnT>
                    <a:lnB>
                      <a:noFill/>
                    </a:lnB>
                    <a:solidFill>
                      <a:srgbClr val="FFFFFF"/>
                    </a:solidFill>
                  </a:tcPr>
                </a:tc>
              </a:tr>
              <a:tr h="496887">
                <a:tc>
                  <a:txBody>
                    <a:bodyPr/>
                    <a:lstStyle/>
                    <a:p>
                      <a:pPr algn="l"/>
                      <a:r>
                        <a:rPr b="1" sz="1125" i="0" u="none">
                          <a:solidFill>
                            <a:srgbClr val="0F172A"/>
                          </a:solidFill>
                          <a:latin typeface="Inter"/>
                        </a:rPr>
                        <a:t>Flutter Mobile/Web</a:t>
                      </a:r>
                    </a:p>
                  </a:txBody>
                  <a:tcPr anchor="ctr" marL="63500" marR="63500" marT="25400" marB="25400">
                    <a:lnL>
                      <a:noFill/>
                    </a:lnL>
                    <a:lnR>
                      <a:noFill/>
                    </a:lnR>
                    <a:lnT>
                      <a:noFill/>
                    </a:lnT>
                    <a:lnB>
                      <a:noFill/>
                    </a:lnB>
                    <a:solidFill>
                      <a:srgbClr val="FFFFFF"/>
                    </a:solidFill>
                  </a:tcPr>
                </a:tc>
                <a:tc>
                  <a:txBody>
                    <a:bodyPr/>
                    <a:lstStyle/>
                    <a:p>
                      <a:pPr algn="l"/>
                      <a:r>
                        <a:rPr b="0" sz="1125" i="0" u="none">
                          <a:solidFill>
                            <a:srgbClr val="475569"/>
                          </a:solidFill>
                          <a:latin typeface="Inter"/>
                        </a:rPr>
                        <a:t>Màn hình thư viện, form, chi tiết và bố cục responsive tối ưu đa màn hình.</a:t>
                      </a:r>
                    </a:p>
                  </a:txBody>
                  <a:tcPr anchor="ctr" marL="63500" marR="63500" marT="25400" marB="25400">
                    <a:lnL>
                      <a:noFill/>
                    </a:lnL>
                    <a:lnR>
                      <a:noFill/>
                    </a:lnR>
                    <a:lnT>
                      <a:noFill/>
                    </a:lnT>
                    <a:lnB>
                      <a:noFill/>
                    </a:lnB>
                    <a:solidFill>
                      <a:srgbClr val="FFFFFF"/>
                    </a:solidFill>
                  </a:tcPr>
                </a:tc>
              </a:tr>
              <a:tr h="496887">
                <a:tc>
                  <a:txBody>
                    <a:bodyPr/>
                    <a:lstStyle/>
                    <a:p>
                      <a:pPr algn="l"/>
                      <a:r>
                        <a:rPr b="1" sz="1125" i="0" u="none">
                          <a:solidFill>
                            <a:srgbClr val="0F172A"/>
                          </a:solidFill>
                          <a:latin typeface="Inter"/>
                        </a:rPr>
                        <a:t>Tag và vị trí</a:t>
                      </a:r>
                    </a:p>
                  </a:txBody>
                  <a:tcPr anchor="ctr" marL="63500" marR="63500" marT="25400" marB="25400">
                    <a:lnL>
                      <a:noFill/>
                    </a:lnL>
                    <a:lnR>
                      <a:noFill/>
                    </a:lnR>
                    <a:lnT>
                      <a:noFill/>
                    </a:lnT>
                    <a:lnB>
                      <a:noFill/>
                    </a:lnB>
                    <a:solidFill>
                      <a:srgbClr val="FFFFFF"/>
                    </a:solidFill>
                  </a:tcPr>
                </a:tc>
                <a:tc>
                  <a:txBody>
                    <a:bodyPr/>
                    <a:lstStyle/>
                    <a:p>
                      <a:pPr algn="l"/>
                      <a:r>
                        <a:rPr b="0" sz="1125" i="0" u="none">
                          <a:solidFill>
                            <a:srgbClr val="475569"/>
                          </a:solidFill>
                          <a:latin typeface="Inter"/>
                        </a:rPr>
                        <a:t>Gắn/lọc tag linh hoạt; mô tả vị trí vật lý kèm tọa độ bản đồ OpenStreetMap.</a:t>
                      </a:r>
                    </a:p>
                  </a:txBody>
                  <a:tcPr anchor="ctr" marL="63500" marR="63500" marT="25400" marB="25400">
                    <a:lnL>
                      <a:noFill/>
                    </a:lnL>
                    <a:lnR>
                      <a:noFill/>
                    </a:lnR>
                    <a:lnT>
                      <a:noFill/>
                    </a:lnT>
                    <a:lnB>
                      <a:noFill/>
                    </a:lnB>
                    <a:solidFill>
                      <a:srgbClr val="FFFFFF"/>
                    </a:solidFill>
                  </a:tcPr>
                </a:tc>
              </a:tr>
              <a:tr h="496887">
                <a:tc>
                  <a:txBody>
                    <a:bodyPr/>
                    <a:lstStyle/>
                    <a:p>
                      <a:pPr algn="l"/>
                      <a:r>
                        <a:rPr b="1" sz="1125" i="0" u="none">
                          <a:solidFill>
                            <a:srgbClr val="0F172A"/>
                          </a:solidFill>
                          <a:latin typeface="Inter"/>
                        </a:rPr>
                        <a:t>Mượn và chia sẻ</a:t>
                      </a:r>
                    </a:p>
                  </a:txBody>
                  <a:tcPr anchor="ctr" marL="63500" marR="63500" marT="25400" marB="25400">
                    <a:lnL>
                      <a:noFill/>
                    </a:lnL>
                    <a:lnR>
                      <a:noFill/>
                    </a:lnR>
                    <a:lnT>
                      <a:noFill/>
                    </a:lnT>
                    <a:lnB>
                      <a:noFill/>
                    </a:lnB>
                    <a:solidFill>
                      <a:srgbClr val="FFFFFF"/>
                    </a:solidFill>
                  </a:tcPr>
                </a:tc>
                <a:tc>
                  <a:txBody>
                    <a:bodyPr/>
                    <a:lstStyle/>
                    <a:p>
                      <a:pPr algn="l"/>
                      <a:r>
                        <a:rPr b="0" sz="1125" i="0" u="none">
                          <a:solidFill>
                            <a:srgbClr val="475569"/>
                          </a:solidFill>
                          <a:latin typeface="Inter"/>
                        </a:rPr>
                        <a:t>Yêu cầu mượn; duyệt/từ chối; phân quyền viewer/editor và thu hồi quyền.</a:t>
                      </a:r>
                    </a:p>
                  </a:txBody>
                  <a:tcPr anchor="ctr" marL="63500" marR="63500" marT="25400" marB="25400">
                    <a:lnL>
                      <a:noFill/>
                    </a:lnL>
                    <a:lnR>
                      <a:noFill/>
                    </a:lnR>
                    <a:lnT>
                      <a:noFill/>
                    </a:lnT>
                    <a:lnB>
                      <a:noFill/>
                    </a:lnB>
                    <a:solidFill>
                      <a:srgbClr val="FFFFFF"/>
                    </a:solidFill>
                  </a:tcPr>
                </a:tc>
              </a:tr>
              <a:tr h="496890">
                <a:tc>
                  <a:txBody>
                    <a:bodyPr/>
                    <a:lstStyle/>
                    <a:p>
                      <a:pPr algn="l"/>
                      <a:r>
                        <a:rPr b="1" sz="1125" i="0" u="none">
                          <a:solidFill>
                            <a:srgbClr val="0F172A"/>
                          </a:solidFill>
                          <a:latin typeface="Inter"/>
                        </a:rPr>
                        <a:t>Recommendation</a:t>
                      </a:r>
                    </a:p>
                  </a:txBody>
                  <a:tcPr anchor="ctr" marL="63500" marR="63500" marT="25400" marB="25400">
                    <a:lnL>
                      <a:noFill/>
                    </a:lnL>
                    <a:lnR>
                      <a:noFill/>
                    </a:lnR>
                    <a:lnT>
                      <a:noFill/>
                    </a:lnT>
                    <a:lnB>
                      <a:noFill/>
                    </a:lnB>
                    <a:solidFill>
                      <a:srgbClr val="FFFFFF"/>
                    </a:solidFill>
                  </a:tcPr>
                </a:tc>
                <a:tc>
                  <a:txBody>
                    <a:bodyPr/>
                    <a:lstStyle/>
                    <a:p>
                      <a:pPr algn="l"/>
                      <a:r>
                        <a:rPr b="0" sz="1125" i="0" u="none">
                          <a:solidFill>
                            <a:srgbClr val="475569"/>
                          </a:solidFill>
                          <a:latin typeface="Inter"/>
                        </a:rPr>
                        <a:t>Xếp hạng tài liệu dựa trên tag, sở thích học tập và lịch sử truy cập.</a:t>
                      </a:r>
                    </a:p>
                  </a:txBody>
                  <a:tcPr anchor="ctr" marL="63500" marR="63500" marT="25400" marB="25400">
                    <a:lnL>
                      <a:noFill/>
                    </a:lnL>
                    <a:lnR>
                      <a:noFill/>
                    </a:lnR>
                    <a:lnT>
                      <a:noFill/>
                    </a:lnT>
                    <a:lnB>
                      <a:noFill/>
                    </a:lnB>
                    <a:solidFill>
                      <a:srgbClr val="FFFFFF"/>
                    </a:solidFill>
                  </a:tcPr>
                </a:tc>
              </a:tr>
            </a:tbl>
          </a:graphicData>
        </a:graphic>
      </p:graphicFrame>
      <p:sp>
        <p:nvSpPr>
          <p:cNvPr id="4" name="TextBox 3"/>
          <p:cNvSpPr txBox="1"/>
          <p:nvPr/>
        </p:nvSpPr>
        <p:spPr>
          <a:xfrm>
            <a:off x="609600" y="533400"/>
            <a:ext cx="11582400" cy="371475"/>
          </a:xfrm>
          <a:prstGeom prst="rect">
            <a:avLst/>
          </a:prstGeom>
          <a:noFill/>
        </p:spPr>
        <p:txBody>
          <a:bodyPr wrap="none" lIns="0" rIns="0" tIns="0" bIns="0" anchor="t">
            <a:spAutoFit/>
          </a:bodyPr>
          <a:lstStyle/>
          <a:p>
            <a:pPr algn="l"/>
            <a:r>
              <a:rPr b="1" sz="2400" i="0" u="none">
                <a:solidFill>
                  <a:srgbClr val="0F172A"/>
                </a:solidFill>
                <a:latin typeface="Inter"/>
              </a:rPr>
              <a:t>Chuyển yêu cầu thành các nhóm chức năng</a:t>
            </a:r>
          </a:p>
        </p:txBody>
      </p:sp>
      <p:sp>
        <p:nvSpPr>
          <p:cNvPr id="5" name="TextBox 4"/>
          <p:cNvSpPr txBox="1"/>
          <p:nvPr/>
        </p:nvSpPr>
        <p:spPr>
          <a:xfrm>
            <a:off x="609600" y="1019175"/>
            <a:ext cx="11582400" cy="190500"/>
          </a:xfrm>
          <a:prstGeom prst="rect">
            <a:avLst/>
          </a:prstGeom>
          <a:noFill/>
        </p:spPr>
        <p:txBody>
          <a:bodyPr wrap="none" lIns="0" rIns="0" tIns="0" bIns="0" anchor="t">
            <a:spAutoFit/>
          </a:bodyPr>
          <a:lstStyle/>
          <a:p>
            <a:pPr algn="l"/>
            <a:r>
              <a:rPr b="0" sz="1200" i="0" u="none">
                <a:solidFill>
                  <a:srgbClr val="64748B"/>
                </a:solidFill>
                <a:latin typeface="Inter"/>
              </a:rPr>
              <a:t>Đối chiếu checklist TH2 và kết quả rà soát mã nguồn thực tế.</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3045618"/>
            <a:ext cx="3505200" cy="1747837"/>
          </a:xfrm>
          <a:prstGeom prst="roundRect">
            <a:avLst>
              <a:gd name="adj" fmla="val 6539"/>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43400" y="3045618"/>
            <a:ext cx="3505200" cy="1747837"/>
          </a:xfrm>
          <a:prstGeom prst="roundRect">
            <a:avLst>
              <a:gd name="adj" fmla="val 6539"/>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077200" y="3152775"/>
            <a:ext cx="3505200" cy="1533525"/>
          </a:xfrm>
          <a:prstGeom prst="roundRect">
            <a:avLst>
              <a:gd name="adj" fmla="val 7453"/>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09600" y="533400"/>
            <a:ext cx="11582400" cy="371475"/>
          </a:xfrm>
          <a:prstGeom prst="rect">
            <a:avLst/>
          </a:prstGeom>
          <a:noFill/>
        </p:spPr>
        <p:txBody>
          <a:bodyPr wrap="none" lIns="0" rIns="0" tIns="0" bIns="0" anchor="t">
            <a:spAutoFit/>
          </a:bodyPr>
          <a:lstStyle/>
          <a:p>
            <a:pPr algn="l"/>
            <a:r>
              <a:rPr b="1" sz="2400" i="0" u="none">
                <a:solidFill>
                  <a:srgbClr val="0F172A"/>
                </a:solidFill>
                <a:latin typeface="Inter"/>
              </a:rPr>
              <a:t>Kiến trúc Firebase – Supabase</a:t>
            </a:r>
          </a:p>
        </p:txBody>
      </p:sp>
      <p:sp>
        <p:nvSpPr>
          <p:cNvPr id="6" name="TextBox 5"/>
          <p:cNvSpPr txBox="1"/>
          <p:nvPr/>
        </p:nvSpPr>
        <p:spPr>
          <a:xfrm>
            <a:off x="609600" y="1019175"/>
            <a:ext cx="11582400" cy="190500"/>
          </a:xfrm>
          <a:prstGeom prst="rect">
            <a:avLst/>
          </a:prstGeom>
          <a:noFill/>
        </p:spPr>
        <p:txBody>
          <a:bodyPr wrap="none" lIns="0" rIns="0" tIns="0" bIns="0" anchor="t">
            <a:spAutoFit/>
          </a:bodyPr>
          <a:lstStyle/>
          <a:p>
            <a:pPr algn="l"/>
            <a:r>
              <a:rPr b="0" sz="1200" i="0" u="none">
                <a:solidFill>
                  <a:srgbClr val="64748B"/>
                </a:solidFill>
                <a:latin typeface="Inter"/>
              </a:rPr>
              <a:t>Phân chia trách nhiệm rõ ràng giữa các dịch vụ Cloud và tầng cục bộ.</a:t>
            </a:r>
          </a:p>
        </p:txBody>
      </p:sp>
      <p:sp>
        <p:nvSpPr>
          <p:cNvPr id="7" name="TextBox 6"/>
          <p:cNvSpPr txBox="1"/>
          <p:nvPr/>
        </p:nvSpPr>
        <p:spPr>
          <a:xfrm>
            <a:off x="885825" y="3321843"/>
            <a:ext cx="3690937" cy="161925"/>
          </a:xfrm>
          <a:prstGeom prst="rect">
            <a:avLst/>
          </a:prstGeom>
          <a:noFill/>
        </p:spPr>
        <p:txBody>
          <a:bodyPr wrap="none" lIns="0" rIns="0" tIns="0" bIns="0" anchor="t">
            <a:spAutoFit/>
          </a:bodyPr>
          <a:lstStyle/>
          <a:p>
            <a:pPr algn="l"/>
            <a:r>
              <a:rPr b="1" sz="1050" i="0" u="none">
                <a:solidFill>
                  <a:srgbClr val="3B82F6"/>
                </a:solidFill>
                <a:latin typeface="Inter"/>
              </a:rPr>
              <a:t>TẦNG GIAO DIỆN &amp; ĐIỀU PHỐI</a:t>
            </a:r>
          </a:p>
        </p:txBody>
      </p:sp>
      <p:sp>
        <p:nvSpPr>
          <p:cNvPr id="8" name="TextBox 7"/>
          <p:cNvSpPr txBox="1"/>
          <p:nvPr/>
        </p:nvSpPr>
        <p:spPr>
          <a:xfrm>
            <a:off x="885825" y="3598068"/>
            <a:ext cx="3875484" cy="200025"/>
          </a:xfrm>
          <a:prstGeom prst="rect">
            <a:avLst/>
          </a:prstGeom>
          <a:noFill/>
        </p:spPr>
        <p:txBody>
          <a:bodyPr wrap="none" lIns="0" rIns="0" tIns="0" bIns="0" anchor="t">
            <a:spAutoFit/>
          </a:bodyPr>
          <a:lstStyle/>
          <a:p>
            <a:pPr algn="l"/>
            <a:r>
              <a:rPr b="1" sz="1350" i="0" u="none">
                <a:solidFill>
                  <a:srgbClr val="0F172A"/>
                </a:solidFill>
                <a:latin typeface="Inter"/>
              </a:rPr>
              <a:t>Flutter Controller &amp; Service</a:t>
            </a:r>
          </a:p>
        </p:txBody>
      </p:sp>
      <p:sp>
        <p:nvSpPr>
          <p:cNvPr id="9" name="TextBox 8"/>
          <p:cNvSpPr txBox="1"/>
          <p:nvPr/>
        </p:nvSpPr>
        <p:spPr>
          <a:xfrm>
            <a:off x="885825" y="3874293"/>
            <a:ext cx="3048000" cy="642937"/>
          </a:xfrm>
          <a:prstGeom prst="rect">
            <a:avLst/>
          </a:prstGeom>
          <a:noFill/>
        </p:spPr>
        <p:txBody>
          <a:bodyPr wrap="square" lIns="0" rIns="0" tIns="0" bIns="0" anchor="t">
            <a:spAutoFit/>
          </a:bodyPr>
          <a:lstStyle/>
          <a:p>
            <a:pPr algn="l">
              <a:lnSpc>
                <a:spcPts val="1687"/>
              </a:lnSpc>
            </a:pPr>
            <a:r>
              <a:rPr b="0" sz="1125" i="0" u="none">
                <a:solidFill>
                  <a:srgbClr val="475569"/>
                </a:solidFill>
                <a:latin typeface="Inter"/>
              </a:rPr>
              <a:t>Điều phối nghiệp vụ, kết nối Local Repository (SQLite) và CloudWorkspaceService.</a:t>
            </a:r>
          </a:p>
        </p:txBody>
      </p:sp>
      <p:sp>
        <p:nvSpPr>
          <p:cNvPr id="10" name="TextBox 9"/>
          <p:cNvSpPr txBox="1"/>
          <p:nvPr/>
        </p:nvSpPr>
        <p:spPr>
          <a:xfrm>
            <a:off x="4619625" y="3321843"/>
            <a:ext cx="3690937" cy="161925"/>
          </a:xfrm>
          <a:prstGeom prst="rect">
            <a:avLst/>
          </a:prstGeom>
          <a:noFill/>
        </p:spPr>
        <p:txBody>
          <a:bodyPr wrap="none" lIns="0" rIns="0" tIns="0" bIns="0" anchor="t">
            <a:spAutoFit/>
          </a:bodyPr>
          <a:lstStyle/>
          <a:p>
            <a:pPr algn="l"/>
            <a:r>
              <a:rPr b="1" sz="1050" i="0" u="none">
                <a:solidFill>
                  <a:srgbClr val="0F172A"/>
                </a:solidFill>
                <a:latin typeface="Inter"/>
              </a:rPr>
              <a:t>ĐỊNH DANH &amp; THÔNG BÁO</a:t>
            </a:r>
          </a:p>
        </p:txBody>
      </p:sp>
      <p:sp>
        <p:nvSpPr>
          <p:cNvPr id="11" name="TextBox 10"/>
          <p:cNvSpPr txBox="1"/>
          <p:nvPr/>
        </p:nvSpPr>
        <p:spPr>
          <a:xfrm>
            <a:off x="4619625" y="3598068"/>
            <a:ext cx="3875484" cy="200025"/>
          </a:xfrm>
          <a:prstGeom prst="rect">
            <a:avLst/>
          </a:prstGeom>
          <a:noFill/>
        </p:spPr>
        <p:txBody>
          <a:bodyPr wrap="none" lIns="0" rIns="0" tIns="0" bIns="0" anchor="t">
            <a:spAutoFit/>
          </a:bodyPr>
          <a:lstStyle/>
          <a:p>
            <a:pPr algn="l"/>
            <a:r>
              <a:rPr b="1" sz="1350" i="0" u="none">
                <a:solidFill>
                  <a:srgbClr val="0F172A"/>
                </a:solidFill>
                <a:latin typeface="Inter"/>
              </a:rPr>
              <a:t>Firebase Auth &amp; FCM</a:t>
            </a:r>
          </a:p>
        </p:txBody>
      </p:sp>
      <p:sp>
        <p:nvSpPr>
          <p:cNvPr id="12" name="TextBox 11"/>
          <p:cNvSpPr txBox="1"/>
          <p:nvPr/>
        </p:nvSpPr>
        <p:spPr>
          <a:xfrm>
            <a:off x="4619625" y="3874293"/>
            <a:ext cx="3048000" cy="642937"/>
          </a:xfrm>
          <a:prstGeom prst="rect">
            <a:avLst/>
          </a:prstGeom>
          <a:noFill/>
        </p:spPr>
        <p:txBody>
          <a:bodyPr wrap="square" lIns="0" rIns="0" tIns="0" bIns="0" anchor="t">
            <a:spAutoFit/>
          </a:bodyPr>
          <a:lstStyle/>
          <a:p>
            <a:pPr algn="l">
              <a:lnSpc>
                <a:spcPts val="1687"/>
              </a:lnSpc>
            </a:pPr>
            <a:r>
              <a:rPr b="0" sz="1125" i="0" u="none">
                <a:solidFill>
                  <a:srgbClr val="475569"/>
                </a:solidFill>
                <a:latin typeface="Inter"/>
              </a:rPr>
              <a:t>Cung cấp Firebase UID, ID token xác thực và Edge Function gửi thông báo đẩy sự kiện.</a:t>
            </a:r>
          </a:p>
        </p:txBody>
      </p:sp>
      <p:sp>
        <p:nvSpPr>
          <p:cNvPr id="13" name="TextBox 12"/>
          <p:cNvSpPr txBox="1"/>
          <p:nvPr/>
        </p:nvSpPr>
        <p:spPr>
          <a:xfrm>
            <a:off x="8353425" y="3429000"/>
            <a:ext cx="3690937" cy="161925"/>
          </a:xfrm>
          <a:prstGeom prst="rect">
            <a:avLst/>
          </a:prstGeom>
          <a:noFill/>
        </p:spPr>
        <p:txBody>
          <a:bodyPr wrap="none" lIns="0" rIns="0" tIns="0" bIns="0" anchor="t">
            <a:spAutoFit/>
          </a:bodyPr>
          <a:lstStyle/>
          <a:p>
            <a:pPr algn="l"/>
            <a:r>
              <a:rPr b="1" sz="1050" i="0" u="none">
                <a:solidFill>
                  <a:srgbClr val="0F172A"/>
                </a:solidFill>
                <a:latin typeface="Inter"/>
              </a:rPr>
              <a:t>DỮ LIỆU &amp; LƯU TRỮ</a:t>
            </a:r>
          </a:p>
        </p:txBody>
      </p:sp>
      <p:sp>
        <p:nvSpPr>
          <p:cNvPr id="14" name="TextBox 13"/>
          <p:cNvSpPr txBox="1"/>
          <p:nvPr/>
        </p:nvSpPr>
        <p:spPr>
          <a:xfrm>
            <a:off x="8353425" y="3705225"/>
            <a:ext cx="3838575" cy="200025"/>
          </a:xfrm>
          <a:prstGeom prst="rect">
            <a:avLst/>
          </a:prstGeom>
          <a:noFill/>
        </p:spPr>
        <p:txBody>
          <a:bodyPr wrap="none" lIns="0" rIns="0" tIns="0" bIns="0" anchor="t">
            <a:spAutoFit/>
          </a:bodyPr>
          <a:lstStyle/>
          <a:p>
            <a:pPr algn="l"/>
            <a:r>
              <a:rPr b="1" sz="1350" i="0" u="none">
                <a:solidFill>
                  <a:srgbClr val="0F172A"/>
                </a:solidFill>
                <a:latin typeface="Inter"/>
              </a:rPr>
              <a:t>Supabase Postgres &amp; Storage</a:t>
            </a:r>
          </a:p>
        </p:txBody>
      </p:sp>
      <p:sp>
        <p:nvSpPr>
          <p:cNvPr id="15" name="TextBox 14"/>
          <p:cNvSpPr txBox="1"/>
          <p:nvPr/>
        </p:nvSpPr>
        <p:spPr>
          <a:xfrm>
            <a:off x="8353425" y="3981450"/>
            <a:ext cx="3048000" cy="428625"/>
          </a:xfrm>
          <a:prstGeom prst="rect">
            <a:avLst/>
          </a:prstGeom>
          <a:noFill/>
        </p:spPr>
        <p:txBody>
          <a:bodyPr wrap="square" lIns="0" rIns="0" tIns="0" bIns="0" anchor="t">
            <a:spAutoFit/>
          </a:bodyPr>
          <a:lstStyle/>
          <a:p>
            <a:pPr algn="l">
              <a:lnSpc>
                <a:spcPts val="1687"/>
              </a:lnSpc>
            </a:pPr>
            <a:r>
              <a:rPr b="0" sz="1125" i="0" u="none">
                <a:solidFill>
                  <a:srgbClr val="475569"/>
                </a:solidFill>
                <a:latin typeface="Inter"/>
              </a:rPr>
              <a:t>Quản lý metadata, quan hệ bảng, phân quyền ACL và bucket lưu trữ tệp riêng tư.</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914650"/>
            <a:ext cx="5353050" cy="1971675"/>
          </a:xfrm>
          <a:prstGeom prst="roundRect">
            <a:avLst>
              <a:gd name="adj" fmla="val 5797"/>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229350" y="2914650"/>
            <a:ext cx="5353050" cy="1971675"/>
          </a:xfrm>
          <a:prstGeom prst="roundRect">
            <a:avLst>
              <a:gd name="adj" fmla="val 5797"/>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tretch>
            <a:fillRect/>
          </a:stretch>
        </p:blipFill>
        <p:spPr>
          <a:xfrm>
            <a:off x="885825" y="3209925"/>
            <a:ext cx="152400" cy="171450"/>
          </a:xfrm>
          <a:prstGeom prst="rect">
            <a:avLst/>
          </a:prstGeom>
        </p:spPr>
      </p:pic>
      <p:pic>
        <p:nvPicPr>
          <p:cNvPr id="5" name="Picture 4" descr="image.png"/>
          <p:cNvPicPr>
            <a:picLocks noChangeAspect="1"/>
          </p:cNvPicPr>
          <p:nvPr/>
        </p:nvPicPr>
        <p:blipFill>
          <a:blip r:embed="rId3"/>
          <a:stretch>
            <a:fillRect/>
          </a:stretch>
        </p:blipFill>
        <p:spPr>
          <a:xfrm>
            <a:off x="6505575" y="3209925"/>
            <a:ext cx="219075" cy="171450"/>
          </a:xfrm>
          <a:prstGeom prst="rect">
            <a:avLst/>
          </a:prstGeom>
        </p:spPr>
      </p:pic>
      <p:sp>
        <p:nvSpPr>
          <p:cNvPr id="6" name="TextBox 5"/>
          <p:cNvSpPr txBox="1"/>
          <p:nvPr/>
        </p:nvSpPr>
        <p:spPr>
          <a:xfrm>
            <a:off x="609600" y="533400"/>
            <a:ext cx="11582400" cy="371475"/>
          </a:xfrm>
          <a:prstGeom prst="rect">
            <a:avLst/>
          </a:prstGeom>
          <a:noFill/>
        </p:spPr>
        <p:txBody>
          <a:bodyPr wrap="none" lIns="0" rIns="0" tIns="0" bIns="0" anchor="t">
            <a:spAutoFit/>
          </a:bodyPr>
          <a:lstStyle/>
          <a:p>
            <a:pPr algn="l"/>
            <a:r>
              <a:rPr b="1" sz="2400" i="0" u="none">
                <a:solidFill>
                  <a:srgbClr val="0F172A"/>
                </a:solidFill>
                <a:latin typeface="Inter"/>
              </a:rPr>
              <a:t>Mô hình dữ liệu và liên kết người dùng</a:t>
            </a:r>
          </a:p>
        </p:txBody>
      </p:sp>
      <p:sp>
        <p:nvSpPr>
          <p:cNvPr id="7" name="TextBox 6"/>
          <p:cNvSpPr txBox="1"/>
          <p:nvPr/>
        </p:nvSpPr>
        <p:spPr>
          <a:xfrm>
            <a:off x="609600" y="1019175"/>
            <a:ext cx="11582400" cy="190500"/>
          </a:xfrm>
          <a:prstGeom prst="rect">
            <a:avLst/>
          </a:prstGeom>
          <a:noFill/>
        </p:spPr>
        <p:txBody>
          <a:bodyPr wrap="none" lIns="0" rIns="0" tIns="0" bIns="0" anchor="t">
            <a:spAutoFit/>
          </a:bodyPr>
          <a:lstStyle/>
          <a:p>
            <a:pPr algn="l"/>
            <a:r>
              <a:rPr b="0" sz="1200" i="0" u="none">
                <a:solidFill>
                  <a:srgbClr val="64748B"/>
                </a:solidFill>
                <a:latin typeface="Inter"/>
              </a:rPr>
              <a:t>Thiết kế cơ sở dữ liệu quan hệ với khóa ngoại, chỉ mục và RLS bảo mật.</a:t>
            </a:r>
          </a:p>
        </p:txBody>
      </p:sp>
      <p:sp>
        <p:nvSpPr>
          <p:cNvPr id="8" name="TextBox 7"/>
          <p:cNvSpPr txBox="1"/>
          <p:nvPr/>
        </p:nvSpPr>
        <p:spPr>
          <a:xfrm>
            <a:off x="885825" y="3190875"/>
            <a:ext cx="6300787" cy="200025"/>
          </a:xfrm>
          <a:prstGeom prst="rect">
            <a:avLst/>
          </a:prstGeom>
          <a:noFill/>
        </p:spPr>
        <p:txBody>
          <a:bodyPr wrap="none" lIns="228600" rIns="0" tIns="0" bIns="0" anchor="t">
            <a:spAutoFit/>
          </a:bodyPr>
          <a:lstStyle/>
          <a:p>
            <a:pPr algn="l"/>
            <a:r>
              <a:rPr b="1" sz="1350" i="0" u="none">
                <a:solidFill>
                  <a:srgbClr val="0F172A"/>
                </a:solidFill>
                <a:latin typeface="Inter"/>
              </a:rPr>
              <a:t>Các nhóm bảng chính</a:t>
            </a:r>
          </a:p>
        </p:txBody>
      </p:sp>
      <p:sp>
        <p:nvSpPr>
          <p:cNvPr id="9" name="TextBox 8"/>
          <p:cNvSpPr txBox="1"/>
          <p:nvPr/>
        </p:nvSpPr>
        <p:spPr>
          <a:xfrm>
            <a:off x="6505575" y="3190875"/>
            <a:ext cx="5686425" cy="200025"/>
          </a:xfrm>
          <a:prstGeom prst="rect">
            <a:avLst/>
          </a:prstGeom>
          <a:noFill/>
        </p:spPr>
        <p:txBody>
          <a:bodyPr wrap="none" lIns="295275" rIns="0" tIns="0" bIns="0" anchor="t">
            <a:spAutoFit/>
          </a:bodyPr>
          <a:lstStyle/>
          <a:p>
            <a:pPr algn="l"/>
            <a:r>
              <a:rPr b="1" sz="1350" i="0" u="none">
                <a:solidFill>
                  <a:srgbClr val="0F172A"/>
                </a:solidFill>
                <a:latin typeface="Inter"/>
              </a:rPr>
              <a:t>Quan hệ cốt lõi</a:t>
            </a:r>
          </a:p>
        </p:txBody>
      </p:sp>
      <p:sp>
        <p:nvSpPr>
          <p:cNvPr id="10" name="TextBox 9"/>
          <p:cNvSpPr txBox="1"/>
          <p:nvPr/>
        </p:nvSpPr>
        <p:spPr>
          <a:xfrm>
            <a:off x="885825" y="3543300"/>
            <a:ext cx="6000750" cy="180975"/>
          </a:xfrm>
          <a:prstGeom prst="rect">
            <a:avLst/>
          </a:prstGeom>
          <a:noFill/>
        </p:spPr>
        <p:txBody>
          <a:bodyPr wrap="none" lIns="0" rIns="0" tIns="0" bIns="0" anchor="t">
            <a:spAutoFit/>
          </a:bodyPr>
          <a:lstStyle/>
          <a:p>
            <a:pPr algn="l"/>
            <a:r>
              <a:rPr b="1" sz="1125" i="0" u="none">
                <a:solidFill>
                  <a:srgbClr val="475569"/>
                </a:solidFill>
                <a:latin typeface="Inter"/>
              </a:rPr>
              <a:t>users / documents:</a:t>
            </a:r>
            <a:r>
              <a:rPr b="0" sz="1125" i="0" u="none">
                <a:solidFill>
                  <a:srgbClr val="475569"/>
                </a:solidFill>
                <a:latin typeface="Inter"/>
              </a:rPr>
              <a:t> Hồ sơ Firebase UID, tài liệu &amp; chủ sở hữu.</a:t>
            </a:r>
          </a:p>
        </p:txBody>
      </p:sp>
      <p:sp>
        <p:nvSpPr>
          <p:cNvPr id="11" name="TextBox 10"/>
          <p:cNvSpPr txBox="1"/>
          <p:nvPr/>
        </p:nvSpPr>
        <p:spPr>
          <a:xfrm>
            <a:off x="885825" y="3838575"/>
            <a:ext cx="6000750" cy="180975"/>
          </a:xfrm>
          <a:prstGeom prst="rect">
            <a:avLst/>
          </a:prstGeom>
          <a:noFill/>
        </p:spPr>
        <p:txBody>
          <a:bodyPr wrap="none" lIns="0" rIns="0" tIns="0" bIns="0" anchor="t">
            <a:spAutoFit/>
          </a:bodyPr>
          <a:lstStyle/>
          <a:p>
            <a:pPr algn="l"/>
            <a:r>
              <a:rPr b="1" sz="1125" i="0" u="none">
                <a:solidFill>
                  <a:srgbClr val="475569"/>
                </a:solidFill>
                <a:latin typeface="Inter"/>
              </a:rPr>
              <a:t>tags / document_tags:</a:t>
            </a:r>
            <a:r>
              <a:rPr b="0" sz="1125" i="0" u="none">
                <a:solidFill>
                  <a:srgbClr val="475569"/>
                </a:solidFill>
                <a:latin typeface="Inter"/>
              </a:rPr>
              <a:t> Danh mục tag &amp; liên kết nhiều-nhiều.</a:t>
            </a:r>
          </a:p>
        </p:txBody>
      </p:sp>
      <p:sp>
        <p:nvSpPr>
          <p:cNvPr id="12" name="TextBox 11"/>
          <p:cNvSpPr txBox="1"/>
          <p:nvPr/>
        </p:nvSpPr>
        <p:spPr>
          <a:xfrm>
            <a:off x="885825" y="4133850"/>
            <a:ext cx="6000750" cy="180975"/>
          </a:xfrm>
          <a:prstGeom prst="rect">
            <a:avLst/>
          </a:prstGeom>
          <a:noFill/>
        </p:spPr>
        <p:txBody>
          <a:bodyPr wrap="none" lIns="0" rIns="0" tIns="0" bIns="0" anchor="t">
            <a:spAutoFit/>
          </a:bodyPr>
          <a:lstStyle/>
          <a:p>
            <a:pPr algn="l"/>
            <a:r>
              <a:rPr b="1" sz="1125" i="0" u="none">
                <a:solidFill>
                  <a:srgbClr val="475569"/>
                </a:solidFill>
                <a:latin typeface="Inter"/>
              </a:rPr>
              <a:t>document_locations:</a:t>
            </a:r>
            <a:r>
              <a:rPr b="0" sz="1125" i="0" u="none">
                <a:solidFill>
                  <a:srgbClr val="475569"/>
                </a:solidFill>
                <a:latin typeface="Inter"/>
              </a:rPr>
              <a:t> Địa chỉ mô tả và cặp tọa độ bản đồ.</a:t>
            </a:r>
          </a:p>
        </p:txBody>
      </p:sp>
      <p:sp>
        <p:nvSpPr>
          <p:cNvPr id="13" name="TextBox 12"/>
          <p:cNvSpPr txBox="1"/>
          <p:nvPr/>
        </p:nvSpPr>
        <p:spPr>
          <a:xfrm>
            <a:off x="885825" y="4429125"/>
            <a:ext cx="6000750" cy="180975"/>
          </a:xfrm>
          <a:prstGeom prst="rect">
            <a:avLst/>
          </a:prstGeom>
          <a:noFill/>
        </p:spPr>
        <p:txBody>
          <a:bodyPr wrap="none" lIns="0" rIns="0" tIns="0" bIns="0" anchor="t">
            <a:spAutoFit/>
          </a:bodyPr>
          <a:lstStyle/>
          <a:p>
            <a:pPr algn="l"/>
            <a:r>
              <a:rPr b="1" sz="1125" i="0" u="none">
                <a:solidFill>
                  <a:srgbClr val="475569"/>
                </a:solidFill>
                <a:latin typeface="Inter"/>
              </a:rPr>
              <a:t>permissions / borrow_requests:</a:t>
            </a:r>
            <a:r>
              <a:rPr b="0" sz="1125" i="0" u="none">
                <a:solidFill>
                  <a:srgbClr val="475569"/>
                </a:solidFill>
                <a:latin typeface="Inter"/>
              </a:rPr>
              <a:t> Quyền truy cập &amp; trạng thái mượn.</a:t>
            </a:r>
          </a:p>
        </p:txBody>
      </p:sp>
      <p:sp>
        <p:nvSpPr>
          <p:cNvPr id="14" name="TextBox 13"/>
          <p:cNvSpPr txBox="1"/>
          <p:nvPr/>
        </p:nvSpPr>
        <p:spPr>
          <a:xfrm>
            <a:off x="6505575" y="3543300"/>
            <a:ext cx="5686425" cy="180975"/>
          </a:xfrm>
          <a:prstGeom prst="rect">
            <a:avLst/>
          </a:prstGeom>
          <a:noFill/>
        </p:spPr>
        <p:txBody>
          <a:bodyPr wrap="none" lIns="0" rIns="0" tIns="0" bIns="0" anchor="t">
            <a:spAutoFit/>
          </a:bodyPr>
          <a:lstStyle/>
          <a:p>
            <a:pPr algn="l"/>
            <a:r>
              <a:rPr b="1" sz="1125" i="0" u="none">
                <a:solidFill>
                  <a:srgbClr val="475569"/>
                </a:solidFill>
                <a:latin typeface="Inter"/>
              </a:rPr>
              <a:t>users 1 → N documents:</a:t>
            </a:r>
            <a:r>
              <a:rPr b="0" sz="1125" i="0" u="none">
                <a:solidFill>
                  <a:srgbClr val="475569"/>
                </a:solidFill>
                <a:latin typeface="Inter"/>
              </a:rPr>
              <a:t> Tài khoản sở hữu nhiều tài liệu.</a:t>
            </a:r>
          </a:p>
        </p:txBody>
      </p:sp>
      <p:sp>
        <p:nvSpPr>
          <p:cNvPr id="15" name="TextBox 14"/>
          <p:cNvSpPr txBox="1"/>
          <p:nvPr/>
        </p:nvSpPr>
        <p:spPr>
          <a:xfrm>
            <a:off x="6505575" y="3838575"/>
            <a:ext cx="5686425" cy="180975"/>
          </a:xfrm>
          <a:prstGeom prst="rect">
            <a:avLst/>
          </a:prstGeom>
          <a:noFill/>
        </p:spPr>
        <p:txBody>
          <a:bodyPr wrap="none" lIns="0" rIns="0" tIns="0" bIns="0" anchor="t">
            <a:spAutoFit/>
          </a:bodyPr>
          <a:lstStyle/>
          <a:p>
            <a:pPr algn="l"/>
            <a:r>
              <a:rPr b="1" sz="1125" i="0" u="none">
                <a:solidFill>
                  <a:srgbClr val="475569"/>
                </a:solidFill>
                <a:latin typeface="Inter"/>
              </a:rPr>
              <a:t>documents N ↔ N tags:</a:t>
            </a:r>
            <a:r>
              <a:rPr b="0" sz="1125" i="0" u="none">
                <a:solidFill>
                  <a:srgbClr val="475569"/>
                </a:solidFill>
                <a:latin typeface="Inter"/>
              </a:rPr>
              <a:t> Gắn nhiều tag qua bảng trung gian.</a:t>
            </a:r>
          </a:p>
        </p:txBody>
      </p:sp>
      <p:sp>
        <p:nvSpPr>
          <p:cNvPr id="16" name="TextBox 15"/>
          <p:cNvSpPr txBox="1"/>
          <p:nvPr/>
        </p:nvSpPr>
        <p:spPr>
          <a:xfrm>
            <a:off x="6505575" y="4133850"/>
            <a:ext cx="5686425" cy="180975"/>
          </a:xfrm>
          <a:prstGeom prst="rect">
            <a:avLst/>
          </a:prstGeom>
          <a:noFill/>
        </p:spPr>
        <p:txBody>
          <a:bodyPr wrap="none" lIns="0" rIns="0" tIns="0" bIns="0" anchor="t">
            <a:spAutoFit/>
          </a:bodyPr>
          <a:lstStyle/>
          <a:p>
            <a:pPr algn="l"/>
            <a:r>
              <a:rPr b="1" sz="1125" i="0" u="none">
                <a:solidFill>
                  <a:srgbClr val="475569"/>
                </a:solidFill>
                <a:latin typeface="Inter"/>
              </a:rPr>
              <a:t>documents 1 → N permissions:</a:t>
            </a:r>
            <a:r>
              <a:rPr b="0" sz="1125" i="0" u="none">
                <a:solidFill>
                  <a:srgbClr val="475569"/>
                </a:solidFill>
                <a:latin typeface="Inter"/>
              </a:rPr>
              <a:t> Quản lý quyền viewer/editor.</a:t>
            </a:r>
          </a:p>
        </p:txBody>
      </p:sp>
      <p:sp>
        <p:nvSpPr>
          <p:cNvPr id="17" name="TextBox 16"/>
          <p:cNvSpPr txBox="1"/>
          <p:nvPr/>
        </p:nvSpPr>
        <p:spPr>
          <a:xfrm>
            <a:off x="6505575" y="4429125"/>
            <a:ext cx="5686425" cy="180975"/>
          </a:xfrm>
          <a:prstGeom prst="rect">
            <a:avLst/>
          </a:prstGeom>
          <a:noFill/>
        </p:spPr>
        <p:txBody>
          <a:bodyPr wrap="none" lIns="0" rIns="0" tIns="0" bIns="0" anchor="t">
            <a:spAutoFit/>
          </a:bodyPr>
          <a:lstStyle/>
          <a:p>
            <a:pPr algn="l"/>
            <a:r>
              <a:rPr b="1" sz="1125" i="0" u="none">
                <a:solidFill>
                  <a:srgbClr val="475569"/>
                </a:solidFill>
                <a:latin typeface="Inter"/>
              </a:rPr>
              <a:t>device_tokens:</a:t>
            </a:r>
            <a:r>
              <a:rPr b="0" sz="1125" i="0" u="none">
                <a:solidFill>
                  <a:srgbClr val="475569"/>
                </a:solidFill>
                <a:latin typeface="Inter"/>
              </a:rPr>
              <a:t> Tách riêng bảng lưu thiết bị nhận FCM.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3043237"/>
            <a:ext cx="342900" cy="342900"/>
          </a:xfrm>
          <a:prstGeom prst="roundRect">
            <a:avLst>
              <a:gd name="adj" fmla="val 50000"/>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04900" y="2957512"/>
            <a:ext cx="10477500" cy="514350"/>
          </a:xfrm>
          <a:prstGeom prst="roundRect">
            <a:avLst>
              <a:gd name="adj" fmla="val 18518"/>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09600" y="3748087"/>
            <a:ext cx="342900" cy="342900"/>
          </a:xfrm>
          <a:prstGeom prst="roundRect">
            <a:avLst>
              <a:gd name="adj" fmla="val 50000"/>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104900" y="3662362"/>
            <a:ext cx="10477500" cy="514350"/>
          </a:xfrm>
          <a:prstGeom prst="roundRect">
            <a:avLst>
              <a:gd name="adj" fmla="val 18518"/>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09600" y="4452937"/>
            <a:ext cx="342900" cy="342900"/>
          </a:xfrm>
          <a:prstGeom prst="roundRect">
            <a:avLst>
              <a:gd name="adj" fmla="val 50000"/>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104900" y="4367212"/>
            <a:ext cx="10477500" cy="514350"/>
          </a:xfrm>
          <a:prstGeom prst="roundRect">
            <a:avLst>
              <a:gd name="adj" fmla="val 18518"/>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9600" y="533400"/>
            <a:ext cx="11582400" cy="371475"/>
          </a:xfrm>
          <a:prstGeom prst="rect">
            <a:avLst/>
          </a:prstGeom>
          <a:noFill/>
        </p:spPr>
        <p:txBody>
          <a:bodyPr wrap="none" lIns="0" rIns="0" tIns="0" bIns="0" anchor="t">
            <a:spAutoFit/>
          </a:bodyPr>
          <a:lstStyle/>
          <a:p>
            <a:pPr algn="l"/>
            <a:r>
              <a:rPr b="1" sz="2400" i="0" u="none">
                <a:solidFill>
                  <a:srgbClr val="0F172A"/>
                </a:solidFill>
                <a:latin typeface="Inter"/>
              </a:rPr>
              <a:t>Luồng xác thực và đồng bộ hồ sơ</a:t>
            </a:r>
          </a:p>
        </p:txBody>
      </p:sp>
      <p:sp>
        <p:nvSpPr>
          <p:cNvPr id="9" name="TextBox 8"/>
          <p:cNvSpPr txBox="1"/>
          <p:nvPr/>
        </p:nvSpPr>
        <p:spPr>
          <a:xfrm>
            <a:off x="609600" y="1019175"/>
            <a:ext cx="11582400" cy="190500"/>
          </a:xfrm>
          <a:prstGeom prst="rect">
            <a:avLst/>
          </a:prstGeom>
          <a:noFill/>
        </p:spPr>
        <p:txBody>
          <a:bodyPr wrap="none" lIns="0" rIns="0" tIns="0" bIns="0" anchor="t">
            <a:spAutoFit/>
          </a:bodyPr>
          <a:lstStyle/>
          <a:p>
            <a:pPr algn="l"/>
            <a:r>
              <a:rPr b="0" sz="1200" i="0" u="none">
                <a:solidFill>
                  <a:srgbClr val="64748B"/>
                </a:solidFill>
                <a:latin typeface="Inter"/>
              </a:rPr>
              <a:t>Sử dụng Third-Party Auth để bảo vệ toàn bộ dữ liệu và Storage trên Supabase.</a:t>
            </a:r>
          </a:p>
        </p:txBody>
      </p:sp>
      <p:sp>
        <p:nvSpPr>
          <p:cNvPr id="10" name="TextBox 9"/>
          <p:cNvSpPr txBox="1"/>
          <p:nvPr/>
        </p:nvSpPr>
        <p:spPr>
          <a:xfrm>
            <a:off x="466725" y="3043237"/>
            <a:ext cx="628650" cy="342900"/>
          </a:xfrm>
          <a:prstGeom prst="rect">
            <a:avLst/>
          </a:prstGeom>
          <a:noFill/>
        </p:spPr>
        <p:txBody>
          <a:bodyPr wrap="square" lIns="0" rIns="0" tIns="0" bIns="0" anchor="ctr">
            <a:spAutoFit/>
          </a:bodyPr>
          <a:lstStyle/>
          <a:p>
            <a:pPr algn="ctr"/>
            <a:r>
              <a:rPr b="1" sz="1200" i="0" u="none">
                <a:solidFill>
                  <a:srgbClr val="FFFFFF"/>
                </a:solidFill>
                <a:latin typeface="Inter"/>
              </a:rPr>
              <a:t>1</a:t>
            </a:r>
          </a:p>
        </p:txBody>
      </p:sp>
      <p:sp>
        <p:nvSpPr>
          <p:cNvPr id="11" name="TextBox 10"/>
          <p:cNvSpPr txBox="1"/>
          <p:nvPr/>
        </p:nvSpPr>
        <p:spPr>
          <a:xfrm>
            <a:off x="466725" y="3748087"/>
            <a:ext cx="628650" cy="342900"/>
          </a:xfrm>
          <a:prstGeom prst="rect">
            <a:avLst/>
          </a:prstGeom>
          <a:noFill/>
        </p:spPr>
        <p:txBody>
          <a:bodyPr wrap="square" lIns="0" rIns="0" tIns="0" bIns="0" anchor="ctr">
            <a:spAutoFit/>
          </a:bodyPr>
          <a:lstStyle/>
          <a:p>
            <a:pPr algn="ctr"/>
            <a:r>
              <a:rPr b="1" sz="1200" i="0" u="none">
                <a:solidFill>
                  <a:srgbClr val="FFFFFF"/>
                </a:solidFill>
                <a:latin typeface="Inter"/>
              </a:rPr>
              <a:t>2</a:t>
            </a:r>
          </a:p>
        </p:txBody>
      </p:sp>
      <p:sp>
        <p:nvSpPr>
          <p:cNvPr id="12" name="TextBox 11"/>
          <p:cNvSpPr txBox="1"/>
          <p:nvPr/>
        </p:nvSpPr>
        <p:spPr>
          <a:xfrm>
            <a:off x="466725" y="4452937"/>
            <a:ext cx="628650" cy="342900"/>
          </a:xfrm>
          <a:prstGeom prst="rect">
            <a:avLst/>
          </a:prstGeom>
          <a:noFill/>
        </p:spPr>
        <p:txBody>
          <a:bodyPr wrap="square" lIns="0" rIns="0" tIns="0" bIns="0" anchor="ctr">
            <a:spAutoFit/>
          </a:bodyPr>
          <a:lstStyle/>
          <a:p>
            <a:pPr algn="ctr"/>
            <a:r>
              <a:rPr b="1" sz="1200" i="0" u="none">
                <a:solidFill>
                  <a:srgbClr val="FFFFFF"/>
                </a:solidFill>
                <a:latin typeface="Inter"/>
              </a:rPr>
              <a:t>3</a:t>
            </a:r>
          </a:p>
        </p:txBody>
      </p:sp>
      <p:sp>
        <p:nvSpPr>
          <p:cNvPr id="13" name="TextBox 12"/>
          <p:cNvSpPr txBox="1"/>
          <p:nvPr/>
        </p:nvSpPr>
        <p:spPr>
          <a:xfrm>
            <a:off x="1304925" y="3119437"/>
            <a:ext cx="10887075" cy="190500"/>
          </a:xfrm>
          <a:prstGeom prst="rect">
            <a:avLst/>
          </a:prstGeom>
          <a:noFill/>
        </p:spPr>
        <p:txBody>
          <a:bodyPr wrap="none" lIns="0" rIns="0" tIns="0" bIns="0" anchor="t">
            <a:spAutoFit/>
          </a:bodyPr>
          <a:lstStyle/>
          <a:p>
            <a:pPr algn="l"/>
            <a:r>
              <a:rPr b="1" sz="1200" i="0" u="none">
                <a:solidFill>
                  <a:srgbClr val="0F172A"/>
                </a:solidFill>
                <a:latin typeface="Inter"/>
              </a:rPr>
              <a:t>Đăng nhập Google trên Flutter, Firebase trả về UID và ID token chính thức.</a:t>
            </a:r>
          </a:p>
        </p:txBody>
      </p:sp>
      <p:sp>
        <p:nvSpPr>
          <p:cNvPr id="14" name="TextBox 13"/>
          <p:cNvSpPr txBox="1"/>
          <p:nvPr/>
        </p:nvSpPr>
        <p:spPr>
          <a:xfrm>
            <a:off x="1304925" y="3824287"/>
            <a:ext cx="10887075" cy="190500"/>
          </a:xfrm>
          <a:prstGeom prst="rect">
            <a:avLst/>
          </a:prstGeom>
          <a:noFill/>
        </p:spPr>
        <p:txBody>
          <a:bodyPr wrap="none" lIns="0" rIns="0" tIns="0" bIns="0" anchor="t">
            <a:spAutoFit/>
          </a:bodyPr>
          <a:lstStyle/>
          <a:p>
            <a:pPr algn="l"/>
            <a:r>
              <a:rPr b="1" sz="1200" i="0" u="none">
                <a:solidFill>
                  <a:srgbClr val="0F172A"/>
                </a:solidFill>
                <a:latin typeface="Inter"/>
              </a:rPr>
              <a:t>Supabase xác minh ID token qua cơ chế Third-Party Auth (kiểm tra issuer &amp; audience).</a:t>
            </a:r>
          </a:p>
        </p:txBody>
      </p:sp>
      <p:sp>
        <p:nvSpPr>
          <p:cNvPr id="15" name="TextBox 14"/>
          <p:cNvSpPr txBox="1"/>
          <p:nvPr/>
        </p:nvSpPr>
        <p:spPr>
          <a:xfrm>
            <a:off x="1304925" y="4529137"/>
            <a:ext cx="10887075" cy="190500"/>
          </a:xfrm>
          <a:prstGeom prst="rect">
            <a:avLst/>
          </a:prstGeom>
          <a:noFill/>
        </p:spPr>
        <p:txBody>
          <a:bodyPr wrap="none" lIns="0" rIns="0" tIns="0" bIns="0" anchor="t">
            <a:spAutoFit/>
          </a:bodyPr>
          <a:lstStyle/>
          <a:p>
            <a:pPr algn="l"/>
            <a:r>
              <a:rPr b="1" sz="1200" i="0" u="none">
                <a:solidFill>
                  <a:srgbClr val="0F172A"/>
                </a:solidFill>
                <a:latin typeface="Inter"/>
              </a:rPr>
              <a:t>Upsert hồ sơ users tự động theo Firebase UID và truy vấn dữ liệu dưới sự kiểm soát của RLS.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3233737"/>
            <a:ext cx="5372100" cy="1247775"/>
          </a:xfrm>
          <a:prstGeom prst="roundRect">
            <a:avLst>
              <a:gd name="adj" fmla="val 916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210300" y="3233737"/>
            <a:ext cx="5372100" cy="1247775"/>
          </a:xfrm>
          <a:prstGeom prst="roundRect">
            <a:avLst>
              <a:gd name="adj" fmla="val 916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tretch>
            <a:fillRect/>
          </a:stretch>
        </p:blipFill>
        <p:spPr>
          <a:xfrm>
            <a:off x="847725" y="3490912"/>
            <a:ext cx="190500" cy="171450"/>
          </a:xfrm>
          <a:prstGeom prst="rect">
            <a:avLst/>
          </a:prstGeom>
        </p:spPr>
      </p:pic>
      <p:pic>
        <p:nvPicPr>
          <p:cNvPr id="5" name="Picture 4" descr="image.png"/>
          <p:cNvPicPr>
            <a:picLocks noChangeAspect="1"/>
          </p:cNvPicPr>
          <p:nvPr/>
        </p:nvPicPr>
        <p:blipFill>
          <a:blip r:embed="rId3"/>
          <a:stretch>
            <a:fillRect/>
          </a:stretch>
        </p:blipFill>
        <p:spPr>
          <a:xfrm>
            <a:off x="6448425" y="3490912"/>
            <a:ext cx="133350" cy="171450"/>
          </a:xfrm>
          <a:prstGeom prst="rect">
            <a:avLst/>
          </a:prstGeom>
        </p:spPr>
      </p:pic>
      <p:sp>
        <p:nvSpPr>
          <p:cNvPr id="6" name="TextBox 5"/>
          <p:cNvSpPr txBox="1"/>
          <p:nvPr/>
        </p:nvSpPr>
        <p:spPr>
          <a:xfrm>
            <a:off x="609600" y="533400"/>
            <a:ext cx="11582400" cy="371475"/>
          </a:xfrm>
          <a:prstGeom prst="rect">
            <a:avLst/>
          </a:prstGeom>
          <a:noFill/>
        </p:spPr>
        <p:txBody>
          <a:bodyPr wrap="none" lIns="0" rIns="0" tIns="0" bIns="0" anchor="t">
            <a:spAutoFit/>
          </a:bodyPr>
          <a:lstStyle/>
          <a:p>
            <a:pPr algn="l"/>
            <a:r>
              <a:rPr b="1" sz="2400" i="0" u="none">
                <a:solidFill>
                  <a:srgbClr val="0F172A"/>
                </a:solidFill>
                <a:latin typeface="Inter"/>
              </a:rPr>
              <a:t>Giao diện responsive cho Mobile và Web</a:t>
            </a:r>
          </a:p>
        </p:txBody>
      </p:sp>
      <p:sp>
        <p:nvSpPr>
          <p:cNvPr id="7" name="TextBox 6"/>
          <p:cNvSpPr txBox="1"/>
          <p:nvPr/>
        </p:nvSpPr>
        <p:spPr>
          <a:xfrm>
            <a:off x="609600" y="981075"/>
            <a:ext cx="11582400" cy="180975"/>
          </a:xfrm>
          <a:prstGeom prst="rect">
            <a:avLst/>
          </a:prstGeom>
          <a:noFill/>
        </p:spPr>
        <p:txBody>
          <a:bodyPr wrap="none" lIns="0" rIns="0" tIns="0" bIns="0" anchor="t">
            <a:spAutoFit/>
          </a:bodyPr>
          <a:lstStyle/>
          <a:p>
            <a:pPr algn="l"/>
            <a:r>
              <a:rPr b="0" sz="1125" i="0" u="none">
                <a:solidFill>
                  <a:srgbClr val="64748B"/>
                </a:solidFill>
                <a:latin typeface="Inter"/>
              </a:rPr>
              <a:t>Hỗ trợ NavigationRail linh hoạt, thu gọn thao tác Cloud và tối ưu hiển thị.</a:t>
            </a:r>
          </a:p>
        </p:txBody>
      </p:sp>
      <p:sp>
        <p:nvSpPr>
          <p:cNvPr id="8" name="TextBox 7"/>
          <p:cNvSpPr txBox="1"/>
          <p:nvPr/>
        </p:nvSpPr>
        <p:spPr>
          <a:xfrm>
            <a:off x="847725" y="3471862"/>
            <a:ext cx="6425803" cy="200025"/>
          </a:xfrm>
          <a:prstGeom prst="rect">
            <a:avLst/>
          </a:prstGeom>
          <a:noFill/>
        </p:spPr>
        <p:txBody>
          <a:bodyPr wrap="none" lIns="266700" rIns="0" tIns="0" bIns="0" anchor="t">
            <a:spAutoFit/>
          </a:bodyPr>
          <a:lstStyle/>
          <a:p>
            <a:pPr algn="l"/>
            <a:r>
              <a:rPr b="1" sz="1350" i="0" u="none">
                <a:solidFill>
                  <a:srgbClr val="0F172A"/>
                </a:solidFill>
                <a:latin typeface="Inter"/>
              </a:rPr>
              <a:t>Bản Web / Desktop</a:t>
            </a:r>
          </a:p>
        </p:txBody>
      </p:sp>
      <p:sp>
        <p:nvSpPr>
          <p:cNvPr id="9" name="TextBox 8"/>
          <p:cNvSpPr txBox="1"/>
          <p:nvPr/>
        </p:nvSpPr>
        <p:spPr>
          <a:xfrm>
            <a:off x="847725" y="3786187"/>
            <a:ext cx="4991100" cy="457200"/>
          </a:xfrm>
          <a:prstGeom prst="rect">
            <a:avLst/>
          </a:prstGeom>
          <a:noFill/>
        </p:spPr>
        <p:txBody>
          <a:bodyPr wrap="square" lIns="0" rIns="0" tIns="0" bIns="0" anchor="t">
            <a:spAutoFit/>
          </a:bodyPr>
          <a:lstStyle/>
          <a:p>
            <a:pPr algn="l">
              <a:lnSpc>
                <a:spcPts val="1800"/>
              </a:lnSpc>
            </a:pPr>
            <a:r>
              <a:rPr b="0" sz="1125" i="0" u="none">
                <a:solidFill>
                  <a:srgbClr val="475569"/>
                </a:solidFill>
                <a:latin typeface="Inter"/>
              </a:rPr>
              <a:t>Xây dựng đầy đủ thư viện, thống kê, quản lý môn học, thùng rác và phân vùng gợi ý. Đã build release thành công trên trình duyệt.</a:t>
            </a:r>
          </a:p>
        </p:txBody>
      </p:sp>
      <p:sp>
        <p:nvSpPr>
          <p:cNvPr id="10" name="TextBox 9"/>
          <p:cNvSpPr txBox="1"/>
          <p:nvPr/>
        </p:nvSpPr>
        <p:spPr>
          <a:xfrm>
            <a:off x="6448425" y="3471862"/>
            <a:ext cx="5743575" cy="200025"/>
          </a:xfrm>
          <a:prstGeom prst="rect">
            <a:avLst/>
          </a:prstGeom>
          <a:noFill/>
        </p:spPr>
        <p:txBody>
          <a:bodyPr wrap="none" lIns="209550" rIns="0" tIns="0" bIns="0" anchor="t">
            <a:spAutoFit/>
          </a:bodyPr>
          <a:lstStyle/>
          <a:p>
            <a:pPr algn="l"/>
            <a:r>
              <a:rPr b="1" sz="1350" i="0" u="none">
                <a:solidFill>
                  <a:srgbClr val="0F172A"/>
                </a:solidFill>
                <a:latin typeface="Inter"/>
              </a:rPr>
              <a:t>Viewport Mobile</a:t>
            </a:r>
          </a:p>
        </p:txBody>
      </p:sp>
      <p:sp>
        <p:nvSpPr>
          <p:cNvPr id="11" name="TextBox 10"/>
          <p:cNvSpPr txBox="1"/>
          <p:nvPr/>
        </p:nvSpPr>
        <p:spPr>
          <a:xfrm>
            <a:off x="6448425" y="3786187"/>
            <a:ext cx="4991100" cy="457200"/>
          </a:xfrm>
          <a:prstGeom prst="rect">
            <a:avLst/>
          </a:prstGeom>
          <a:noFill/>
        </p:spPr>
        <p:txBody>
          <a:bodyPr wrap="square" lIns="0" rIns="0" tIns="0" bIns="0" anchor="t">
            <a:spAutoFit/>
          </a:bodyPr>
          <a:lstStyle/>
          <a:p>
            <a:pPr algn="l">
              <a:lnSpc>
                <a:spcPts val="1800"/>
              </a:lnSpc>
            </a:pPr>
            <a:r>
              <a:rPr b="0" sz="1125" i="0" u="none">
                <a:solidFill>
                  <a:srgbClr val="475569"/>
                </a:solidFill>
                <a:latin typeface="Inter"/>
              </a:rPr>
              <a:t>Kiểm thử bố cục ở màn hình hẹp (360×800), khắc phục lỗi tràn footer thẻ tài liệu. Bản native Android/iOS đang tiếp tục được cấu hình.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3014662"/>
            <a:ext cx="5372100" cy="1809750"/>
          </a:xfrm>
          <a:prstGeom prst="roundRect">
            <a:avLst>
              <a:gd name="adj" fmla="val 6315"/>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210300" y="3014662"/>
            <a:ext cx="5372100" cy="1809750"/>
          </a:xfrm>
          <a:prstGeom prst="roundRect">
            <a:avLst>
              <a:gd name="adj" fmla="val 6315"/>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tretch>
            <a:fillRect/>
          </a:stretch>
        </p:blipFill>
        <p:spPr>
          <a:xfrm>
            <a:off x="885825" y="3290887"/>
            <a:ext cx="381000" cy="381000"/>
          </a:xfrm>
          <a:prstGeom prst="rect">
            <a:avLst/>
          </a:prstGeom>
        </p:spPr>
      </p:pic>
      <p:pic>
        <p:nvPicPr>
          <p:cNvPr id="5" name="Picture 4" descr="image.png"/>
          <p:cNvPicPr>
            <a:picLocks noChangeAspect="1"/>
          </p:cNvPicPr>
          <p:nvPr/>
        </p:nvPicPr>
        <p:blipFill>
          <a:blip r:embed="rId3"/>
          <a:stretch>
            <a:fillRect/>
          </a:stretch>
        </p:blipFill>
        <p:spPr>
          <a:xfrm>
            <a:off x="6486525" y="3290887"/>
            <a:ext cx="381000" cy="381000"/>
          </a:xfrm>
          <a:prstGeom prst="rect">
            <a:avLst/>
          </a:prstGeom>
        </p:spPr>
      </p:pic>
      <p:pic>
        <p:nvPicPr>
          <p:cNvPr id="6" name="Picture 5" descr="image.png"/>
          <p:cNvPicPr>
            <a:picLocks noChangeAspect="1"/>
          </p:cNvPicPr>
          <p:nvPr/>
        </p:nvPicPr>
        <p:blipFill>
          <a:blip r:embed="rId4"/>
          <a:stretch>
            <a:fillRect/>
          </a:stretch>
        </p:blipFill>
        <p:spPr>
          <a:xfrm>
            <a:off x="990600" y="3395662"/>
            <a:ext cx="171450" cy="171450"/>
          </a:xfrm>
          <a:prstGeom prst="rect">
            <a:avLst/>
          </a:prstGeom>
        </p:spPr>
      </p:pic>
      <p:pic>
        <p:nvPicPr>
          <p:cNvPr id="7" name="Picture 6" descr="image.png"/>
          <p:cNvPicPr>
            <a:picLocks noChangeAspect="1"/>
          </p:cNvPicPr>
          <p:nvPr/>
        </p:nvPicPr>
        <p:blipFill>
          <a:blip r:embed="rId5"/>
          <a:stretch>
            <a:fillRect/>
          </a:stretch>
        </p:blipFill>
        <p:spPr>
          <a:xfrm>
            <a:off x="6591300" y="3395662"/>
            <a:ext cx="171450" cy="171450"/>
          </a:xfrm>
          <a:prstGeom prst="rect">
            <a:avLst/>
          </a:prstGeom>
        </p:spPr>
      </p:pic>
      <p:sp>
        <p:nvSpPr>
          <p:cNvPr id="8" name="TextBox 7"/>
          <p:cNvSpPr txBox="1"/>
          <p:nvPr/>
        </p:nvSpPr>
        <p:spPr>
          <a:xfrm>
            <a:off x="609600" y="533400"/>
            <a:ext cx="11582400" cy="371475"/>
          </a:xfrm>
          <a:prstGeom prst="rect">
            <a:avLst/>
          </a:prstGeom>
          <a:noFill/>
        </p:spPr>
        <p:txBody>
          <a:bodyPr wrap="none" lIns="0" rIns="0" tIns="0" bIns="0" anchor="t">
            <a:spAutoFit/>
          </a:bodyPr>
          <a:lstStyle/>
          <a:p>
            <a:pPr algn="l"/>
            <a:r>
              <a:rPr b="1" sz="2400" i="0" u="none">
                <a:solidFill>
                  <a:srgbClr val="0F172A"/>
                </a:solidFill>
                <a:latin typeface="Inter"/>
              </a:rPr>
              <a:t>Gắn thẻ và tìm kiếm tài liệu</a:t>
            </a:r>
          </a:p>
        </p:txBody>
      </p:sp>
      <p:sp>
        <p:nvSpPr>
          <p:cNvPr id="9" name="TextBox 8"/>
          <p:cNvSpPr txBox="1"/>
          <p:nvPr/>
        </p:nvSpPr>
        <p:spPr>
          <a:xfrm>
            <a:off x="609600" y="1019175"/>
            <a:ext cx="11582400" cy="190500"/>
          </a:xfrm>
          <a:prstGeom prst="rect">
            <a:avLst/>
          </a:prstGeom>
          <a:noFill/>
        </p:spPr>
        <p:txBody>
          <a:bodyPr wrap="none" lIns="0" rIns="0" tIns="0" bIns="0" anchor="t">
            <a:spAutoFit/>
          </a:bodyPr>
          <a:lstStyle/>
          <a:p>
            <a:pPr algn="l"/>
            <a:r>
              <a:rPr b="0" sz="1200" i="0" u="none">
                <a:solidFill>
                  <a:srgbClr val="64748B"/>
                </a:solidFill>
                <a:latin typeface="Inter"/>
              </a:rPr>
              <a:t>Mô tả nội dung linh hoạt với hệ thống đa tag và chuẩn hóa chuỗi tìm kiếm.</a:t>
            </a:r>
          </a:p>
        </p:txBody>
      </p:sp>
      <p:sp>
        <p:nvSpPr>
          <p:cNvPr id="10" name="TextBox 9"/>
          <p:cNvSpPr txBox="1"/>
          <p:nvPr/>
        </p:nvSpPr>
        <p:spPr>
          <a:xfrm>
            <a:off x="885825" y="3824287"/>
            <a:ext cx="6325790" cy="200025"/>
          </a:xfrm>
          <a:prstGeom prst="rect">
            <a:avLst/>
          </a:prstGeom>
          <a:noFill/>
        </p:spPr>
        <p:txBody>
          <a:bodyPr wrap="none" lIns="0" rIns="0" tIns="0" bIns="0" anchor="t">
            <a:spAutoFit/>
          </a:bodyPr>
          <a:lstStyle/>
          <a:p>
            <a:pPr algn="l"/>
            <a:r>
              <a:rPr b="1" sz="1350" i="0" u="none">
                <a:solidFill>
                  <a:srgbClr val="0F172A"/>
                </a:solidFill>
                <a:latin typeface="Inter"/>
              </a:rPr>
              <a:t>Gắn tag linh hoạt</a:t>
            </a:r>
          </a:p>
        </p:txBody>
      </p:sp>
      <p:sp>
        <p:nvSpPr>
          <p:cNvPr id="11" name="TextBox 10"/>
          <p:cNvSpPr txBox="1"/>
          <p:nvPr/>
        </p:nvSpPr>
        <p:spPr>
          <a:xfrm>
            <a:off x="885825" y="4119562"/>
            <a:ext cx="4914900" cy="428625"/>
          </a:xfrm>
          <a:prstGeom prst="rect">
            <a:avLst/>
          </a:prstGeom>
          <a:noFill/>
        </p:spPr>
        <p:txBody>
          <a:bodyPr wrap="square" lIns="0" rIns="0" tIns="0" bIns="0" anchor="t">
            <a:spAutoFit/>
          </a:bodyPr>
          <a:lstStyle/>
          <a:p>
            <a:pPr algn="l">
              <a:lnSpc>
                <a:spcPts val="1687"/>
              </a:lnSpc>
            </a:pPr>
            <a:r>
              <a:rPr b="0" sz="1125" i="0" u="none">
                <a:solidFill>
                  <a:srgbClr val="475569"/>
                </a:solidFill>
                <a:latin typeface="Inter"/>
              </a:rPr>
              <a:t>Thêm nhiều tag khi tạo hoặc chỉnh sửa tài liệu. Lọc nhanh danh sách theo chip tag trên giao diện.</a:t>
            </a:r>
          </a:p>
        </p:txBody>
      </p:sp>
      <p:sp>
        <p:nvSpPr>
          <p:cNvPr id="12" name="TextBox 11"/>
          <p:cNvSpPr txBox="1"/>
          <p:nvPr/>
        </p:nvSpPr>
        <p:spPr>
          <a:xfrm>
            <a:off x="6486525" y="3824287"/>
            <a:ext cx="5705475" cy="200025"/>
          </a:xfrm>
          <a:prstGeom prst="rect">
            <a:avLst/>
          </a:prstGeom>
          <a:noFill/>
        </p:spPr>
        <p:txBody>
          <a:bodyPr wrap="none" lIns="0" rIns="0" tIns="0" bIns="0" anchor="t">
            <a:spAutoFit/>
          </a:bodyPr>
          <a:lstStyle/>
          <a:p>
            <a:pPr algn="l"/>
            <a:r>
              <a:rPr b="1" sz="1350" i="0" u="none">
                <a:solidFill>
                  <a:srgbClr val="0F172A"/>
                </a:solidFill>
                <a:latin typeface="Inter"/>
              </a:rPr>
              <a:t>Tìm kiếm &amp; Chuẩn hóa</a:t>
            </a:r>
          </a:p>
        </p:txBody>
      </p:sp>
      <p:sp>
        <p:nvSpPr>
          <p:cNvPr id="13" name="TextBox 12"/>
          <p:cNvSpPr txBox="1"/>
          <p:nvPr/>
        </p:nvSpPr>
        <p:spPr>
          <a:xfrm>
            <a:off x="6486525" y="4119562"/>
            <a:ext cx="4914900" cy="428625"/>
          </a:xfrm>
          <a:prstGeom prst="rect">
            <a:avLst/>
          </a:prstGeom>
          <a:noFill/>
        </p:spPr>
        <p:txBody>
          <a:bodyPr wrap="square" lIns="0" rIns="0" tIns="0" bIns="0" anchor="t">
            <a:spAutoFit/>
          </a:bodyPr>
          <a:lstStyle/>
          <a:p>
            <a:pPr algn="l">
              <a:lnSpc>
                <a:spcPts val="1687"/>
              </a:lnSpc>
            </a:pPr>
            <a:r>
              <a:rPr b="0" sz="1125" i="0" u="none">
                <a:solidFill>
                  <a:srgbClr val="475569"/>
                </a:solidFill>
                <a:latin typeface="Inter"/>
              </a:rPr>
              <a:t>Tìm kiếm Cloud theo tiêu đề, mô tả và tag. Chuẩn hóa bỏ khoảng trắng, không phân biệt hoa/thường cho thuật toán gợi ý.</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3062287"/>
            <a:ext cx="5353050" cy="1676400"/>
          </a:xfrm>
          <a:prstGeom prst="roundRect">
            <a:avLst>
              <a:gd name="adj" fmla="val 6818"/>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229350" y="3219450"/>
            <a:ext cx="5353050" cy="1362075"/>
          </a:xfrm>
          <a:prstGeom prst="roundRect">
            <a:avLst>
              <a:gd name="adj" fmla="val 8391"/>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tretch>
            <a:fillRect/>
          </a:stretch>
        </p:blipFill>
        <p:spPr>
          <a:xfrm>
            <a:off x="885825" y="3357562"/>
            <a:ext cx="133350" cy="171450"/>
          </a:xfrm>
          <a:prstGeom prst="rect">
            <a:avLst/>
          </a:prstGeom>
        </p:spPr>
      </p:pic>
      <p:pic>
        <p:nvPicPr>
          <p:cNvPr id="5" name="Picture 4" descr="image.png"/>
          <p:cNvPicPr>
            <a:picLocks noChangeAspect="1"/>
          </p:cNvPicPr>
          <p:nvPr/>
        </p:nvPicPr>
        <p:blipFill>
          <a:blip r:embed="rId3"/>
          <a:stretch>
            <a:fillRect/>
          </a:stretch>
        </p:blipFill>
        <p:spPr>
          <a:xfrm>
            <a:off x="6505575" y="3514725"/>
            <a:ext cx="190500" cy="171450"/>
          </a:xfrm>
          <a:prstGeom prst="rect">
            <a:avLst/>
          </a:prstGeom>
        </p:spPr>
      </p:pic>
      <p:sp>
        <p:nvSpPr>
          <p:cNvPr id="6" name="TextBox 5"/>
          <p:cNvSpPr txBox="1"/>
          <p:nvPr/>
        </p:nvSpPr>
        <p:spPr>
          <a:xfrm>
            <a:off x="609600" y="533400"/>
            <a:ext cx="11582400" cy="371475"/>
          </a:xfrm>
          <a:prstGeom prst="rect">
            <a:avLst/>
          </a:prstGeom>
          <a:noFill/>
        </p:spPr>
        <p:txBody>
          <a:bodyPr wrap="none" lIns="0" rIns="0" tIns="0" bIns="0" anchor="t">
            <a:spAutoFit/>
          </a:bodyPr>
          <a:lstStyle/>
          <a:p>
            <a:pPr algn="l"/>
            <a:r>
              <a:rPr b="1" sz="2400" i="0" u="none">
                <a:solidFill>
                  <a:srgbClr val="0F172A"/>
                </a:solidFill>
                <a:latin typeface="Inter"/>
              </a:rPr>
              <a:t>Quản lý vị trí vật lý và bản đồ</a:t>
            </a:r>
          </a:p>
        </p:txBody>
      </p:sp>
      <p:sp>
        <p:nvSpPr>
          <p:cNvPr id="7" name="TextBox 6"/>
          <p:cNvSpPr txBox="1"/>
          <p:nvPr/>
        </p:nvSpPr>
        <p:spPr>
          <a:xfrm>
            <a:off x="609600" y="1019175"/>
            <a:ext cx="11582400" cy="190500"/>
          </a:xfrm>
          <a:prstGeom prst="rect">
            <a:avLst/>
          </a:prstGeom>
          <a:noFill/>
        </p:spPr>
        <p:txBody>
          <a:bodyPr wrap="none" lIns="0" rIns="0" tIns="0" bIns="0" anchor="t">
            <a:spAutoFit/>
          </a:bodyPr>
          <a:lstStyle/>
          <a:p>
            <a:pPr algn="l"/>
            <a:r>
              <a:rPr b="0" sz="1200" i="0" u="none">
                <a:solidFill>
                  <a:srgbClr val="64748B"/>
                </a:solidFill>
                <a:latin typeface="Inter"/>
              </a:rPr>
              <a:t>Mở rộng quản lý tài liệu số sang vị trí cất giữ tài liệu giấy thực tế.</a:t>
            </a:r>
          </a:p>
        </p:txBody>
      </p:sp>
      <p:sp>
        <p:nvSpPr>
          <p:cNvPr id="8" name="TextBox 7"/>
          <p:cNvSpPr txBox="1"/>
          <p:nvPr/>
        </p:nvSpPr>
        <p:spPr>
          <a:xfrm>
            <a:off x="885825" y="3338512"/>
            <a:ext cx="6300787" cy="200025"/>
          </a:xfrm>
          <a:prstGeom prst="rect">
            <a:avLst/>
          </a:prstGeom>
          <a:noFill/>
        </p:spPr>
        <p:txBody>
          <a:bodyPr wrap="none" lIns="209550" rIns="0" tIns="0" bIns="0" anchor="t">
            <a:spAutoFit/>
          </a:bodyPr>
          <a:lstStyle/>
          <a:p>
            <a:pPr algn="l"/>
            <a:r>
              <a:rPr b="1" sz="1350" i="0" u="none">
                <a:solidFill>
                  <a:srgbClr val="0F172A"/>
                </a:solidFill>
                <a:latin typeface="Inter"/>
              </a:rPr>
              <a:t>Quy tắc kiểm tra tọa độ</a:t>
            </a:r>
          </a:p>
        </p:txBody>
      </p:sp>
      <p:sp>
        <p:nvSpPr>
          <p:cNvPr id="9" name="TextBox 8"/>
          <p:cNvSpPr txBox="1"/>
          <p:nvPr/>
        </p:nvSpPr>
        <p:spPr>
          <a:xfrm>
            <a:off x="6505575" y="3495675"/>
            <a:ext cx="5686425" cy="200025"/>
          </a:xfrm>
          <a:prstGeom prst="rect">
            <a:avLst/>
          </a:prstGeom>
          <a:noFill/>
        </p:spPr>
        <p:txBody>
          <a:bodyPr wrap="none" lIns="266700" rIns="0" tIns="0" bIns="0" anchor="t">
            <a:spAutoFit/>
          </a:bodyPr>
          <a:lstStyle/>
          <a:p>
            <a:pPr algn="l"/>
            <a:r>
              <a:rPr b="1" sz="1350" i="0" u="none">
                <a:solidFill>
                  <a:srgbClr val="0F172A"/>
                </a:solidFill>
                <a:latin typeface="Inter"/>
              </a:rPr>
              <a:t>Tích hợp OpenStreetMap</a:t>
            </a:r>
          </a:p>
        </p:txBody>
      </p:sp>
      <p:sp>
        <p:nvSpPr>
          <p:cNvPr id="10" name="TextBox 9"/>
          <p:cNvSpPr txBox="1"/>
          <p:nvPr/>
        </p:nvSpPr>
        <p:spPr>
          <a:xfrm>
            <a:off x="6505575" y="3848100"/>
            <a:ext cx="4895850" cy="457200"/>
          </a:xfrm>
          <a:prstGeom prst="rect">
            <a:avLst/>
          </a:prstGeom>
          <a:noFill/>
        </p:spPr>
        <p:txBody>
          <a:bodyPr wrap="square" lIns="0" rIns="0" tIns="0" bIns="0" anchor="t">
            <a:spAutoFit/>
          </a:bodyPr>
          <a:lstStyle/>
          <a:p>
            <a:pPr algn="l">
              <a:lnSpc>
                <a:spcPts val="1800"/>
              </a:lnSpc>
            </a:pPr>
            <a:r>
              <a:rPr b="0" sz="1125" i="0" u="none">
                <a:solidFill>
                  <a:srgbClr val="475569"/>
                </a:solidFill>
                <a:latin typeface="Inter"/>
              </a:rPr>
              <a:t>Hỗ trợ mở bản đồ trong Flutter hiển thị marker chính xác tại vị trí phòng, tủ hoặc kệ lưu trữ tài liệu thông qua thư viện flutter_map.</a:t>
            </a:r>
          </a:p>
        </p:txBody>
      </p:sp>
      <p:sp>
        <p:nvSpPr>
          <p:cNvPr id="11" name="TextBox 10"/>
          <p:cNvSpPr txBox="1"/>
          <p:nvPr/>
        </p:nvSpPr>
        <p:spPr>
          <a:xfrm>
            <a:off x="885825" y="3690937"/>
            <a:ext cx="6000750" cy="180975"/>
          </a:xfrm>
          <a:prstGeom prst="rect">
            <a:avLst/>
          </a:prstGeom>
          <a:noFill/>
        </p:spPr>
        <p:txBody>
          <a:bodyPr wrap="none" lIns="0" rIns="0" tIns="0" bIns="0" anchor="t">
            <a:spAutoFit/>
          </a:bodyPr>
          <a:lstStyle/>
          <a:p>
            <a:pPr algn="l"/>
            <a:r>
              <a:rPr b="1" sz="1125" i="0" u="none">
                <a:solidFill>
                  <a:srgbClr val="475569"/>
                </a:solidFill>
                <a:latin typeface="Inter"/>
              </a:rPr>
              <a:t>Vĩ độ (Latitude):</a:t>
            </a:r>
            <a:r>
              <a:rPr b="0" sz="1125" i="0" u="none">
                <a:solidFill>
                  <a:srgbClr val="475569"/>
                </a:solidFill>
                <a:latin typeface="Inter"/>
              </a:rPr>
              <a:t> Bắt buộc nằm trong khoảng [−90, 90].</a:t>
            </a:r>
          </a:p>
        </p:txBody>
      </p:sp>
      <p:sp>
        <p:nvSpPr>
          <p:cNvPr id="12" name="TextBox 11"/>
          <p:cNvSpPr txBox="1"/>
          <p:nvPr/>
        </p:nvSpPr>
        <p:spPr>
          <a:xfrm>
            <a:off x="885825" y="3986212"/>
            <a:ext cx="6000750" cy="180975"/>
          </a:xfrm>
          <a:prstGeom prst="rect">
            <a:avLst/>
          </a:prstGeom>
          <a:noFill/>
        </p:spPr>
        <p:txBody>
          <a:bodyPr wrap="none" lIns="0" rIns="0" tIns="0" bIns="0" anchor="t">
            <a:spAutoFit/>
          </a:bodyPr>
          <a:lstStyle/>
          <a:p>
            <a:pPr algn="l"/>
            <a:r>
              <a:rPr b="1" sz="1125" i="0" u="none">
                <a:solidFill>
                  <a:srgbClr val="475569"/>
                </a:solidFill>
                <a:latin typeface="Inter"/>
              </a:rPr>
              <a:t>Kinh độ (Longitude):</a:t>
            </a:r>
            <a:r>
              <a:rPr b="0" sz="1125" i="0" u="none">
                <a:solidFill>
                  <a:srgbClr val="475569"/>
                </a:solidFill>
                <a:latin typeface="Inter"/>
              </a:rPr>
              <a:t> Bắt buộc nằm trong khoảng [−180, 180].</a:t>
            </a:r>
          </a:p>
        </p:txBody>
      </p:sp>
      <p:sp>
        <p:nvSpPr>
          <p:cNvPr id="13" name="TextBox 12"/>
          <p:cNvSpPr txBox="1"/>
          <p:nvPr/>
        </p:nvSpPr>
        <p:spPr>
          <a:xfrm>
            <a:off x="885825" y="4281487"/>
            <a:ext cx="6000750" cy="180975"/>
          </a:xfrm>
          <a:prstGeom prst="rect">
            <a:avLst/>
          </a:prstGeom>
          <a:noFill/>
        </p:spPr>
        <p:txBody>
          <a:bodyPr wrap="none" lIns="0" rIns="0" tIns="0" bIns="0" anchor="t">
            <a:spAutoFit/>
          </a:bodyPr>
          <a:lstStyle/>
          <a:p>
            <a:pPr algn="l"/>
            <a:r>
              <a:rPr b="1" sz="1125" i="0" u="none">
                <a:solidFill>
                  <a:srgbClr val="475569"/>
                </a:solidFill>
                <a:latin typeface="Inter"/>
              </a:rPr>
              <a:t>Xử lý lỗi:</a:t>
            </a:r>
            <a:r>
              <a:rPr b="0" sz="1125" i="0" u="none">
                <a:solidFill>
                  <a:srgbClr val="475569"/>
                </a:solidFill>
                <a:latin typeface="Inter"/>
              </a:rPr>
              <a:t> Chặn lưu dữ liệu nếu thiếu một tọa độ hoặc ngoài khoảng.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3043237"/>
            <a:ext cx="342900" cy="342900"/>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04900" y="2957512"/>
            <a:ext cx="10477500" cy="514350"/>
          </a:xfrm>
          <a:prstGeom prst="roundRect">
            <a:avLst>
              <a:gd name="adj" fmla="val 18518"/>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09600" y="3748087"/>
            <a:ext cx="342900" cy="342900"/>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104900" y="3662362"/>
            <a:ext cx="10477500" cy="514350"/>
          </a:xfrm>
          <a:prstGeom prst="roundRect">
            <a:avLst>
              <a:gd name="adj" fmla="val 18518"/>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09600" y="4452937"/>
            <a:ext cx="342900" cy="342900"/>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104900" y="4367212"/>
            <a:ext cx="10477500" cy="514350"/>
          </a:xfrm>
          <a:prstGeom prst="roundRect">
            <a:avLst>
              <a:gd name="adj" fmla="val 18518"/>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9600" y="533400"/>
            <a:ext cx="11582400" cy="371475"/>
          </a:xfrm>
          <a:prstGeom prst="rect">
            <a:avLst/>
          </a:prstGeom>
          <a:noFill/>
        </p:spPr>
        <p:txBody>
          <a:bodyPr wrap="none" lIns="0" rIns="0" tIns="0" bIns="0" anchor="t">
            <a:spAutoFit/>
          </a:bodyPr>
          <a:lstStyle/>
          <a:p>
            <a:pPr algn="l"/>
            <a:r>
              <a:rPr b="1" sz="2400" i="0" u="none">
                <a:solidFill>
                  <a:srgbClr val="0F172A"/>
                </a:solidFill>
                <a:latin typeface="Inter"/>
              </a:rPr>
              <a:t>Lưu trữ tệp riêng tư trên Supabase</a:t>
            </a:r>
          </a:p>
        </p:txBody>
      </p:sp>
      <p:sp>
        <p:nvSpPr>
          <p:cNvPr id="9" name="TextBox 8"/>
          <p:cNvSpPr txBox="1"/>
          <p:nvPr/>
        </p:nvSpPr>
        <p:spPr>
          <a:xfrm>
            <a:off x="609600" y="1019175"/>
            <a:ext cx="11582400" cy="190500"/>
          </a:xfrm>
          <a:prstGeom prst="rect">
            <a:avLst/>
          </a:prstGeom>
          <a:noFill/>
        </p:spPr>
        <p:txBody>
          <a:bodyPr wrap="none" lIns="0" rIns="0" tIns="0" bIns="0" anchor="t">
            <a:spAutoFit/>
          </a:bodyPr>
          <a:lstStyle/>
          <a:p>
            <a:pPr algn="l"/>
            <a:r>
              <a:rPr b="0" sz="1200" i="0" u="none">
                <a:solidFill>
                  <a:srgbClr val="64748B"/>
                </a:solidFill>
                <a:latin typeface="Inter"/>
              </a:rPr>
              <a:t>Đảm bảo an toàn bảo mật tệp đính kèm với Bucket riêng tư và RLS.</a:t>
            </a:r>
          </a:p>
        </p:txBody>
      </p:sp>
      <p:sp>
        <p:nvSpPr>
          <p:cNvPr id="10" name="TextBox 9"/>
          <p:cNvSpPr txBox="1"/>
          <p:nvPr/>
        </p:nvSpPr>
        <p:spPr>
          <a:xfrm>
            <a:off x="466725" y="3043237"/>
            <a:ext cx="628650" cy="342900"/>
          </a:xfrm>
          <a:prstGeom prst="rect">
            <a:avLst/>
          </a:prstGeom>
          <a:noFill/>
        </p:spPr>
        <p:txBody>
          <a:bodyPr wrap="square" lIns="0" rIns="0" tIns="0" bIns="0" anchor="ctr">
            <a:spAutoFit/>
          </a:bodyPr>
          <a:lstStyle/>
          <a:p>
            <a:pPr algn="ctr"/>
            <a:r>
              <a:rPr b="1" sz="1200" i="0" u="none">
                <a:solidFill>
                  <a:srgbClr val="F8FAFC"/>
                </a:solidFill>
                <a:latin typeface="Inter"/>
              </a:rPr>
              <a:t>1</a:t>
            </a:r>
          </a:p>
        </p:txBody>
      </p:sp>
      <p:sp>
        <p:nvSpPr>
          <p:cNvPr id="11" name="TextBox 10"/>
          <p:cNvSpPr txBox="1"/>
          <p:nvPr/>
        </p:nvSpPr>
        <p:spPr>
          <a:xfrm>
            <a:off x="466725" y="3748087"/>
            <a:ext cx="628650" cy="342900"/>
          </a:xfrm>
          <a:prstGeom prst="rect">
            <a:avLst/>
          </a:prstGeom>
          <a:noFill/>
        </p:spPr>
        <p:txBody>
          <a:bodyPr wrap="square" lIns="0" rIns="0" tIns="0" bIns="0" anchor="ctr">
            <a:spAutoFit/>
          </a:bodyPr>
          <a:lstStyle/>
          <a:p>
            <a:pPr algn="ctr"/>
            <a:r>
              <a:rPr b="1" sz="1200" i="0" u="none">
                <a:solidFill>
                  <a:srgbClr val="F8FAFC"/>
                </a:solidFill>
                <a:latin typeface="Inter"/>
              </a:rPr>
              <a:t>2</a:t>
            </a:r>
          </a:p>
        </p:txBody>
      </p:sp>
      <p:sp>
        <p:nvSpPr>
          <p:cNvPr id="12" name="TextBox 11"/>
          <p:cNvSpPr txBox="1"/>
          <p:nvPr/>
        </p:nvSpPr>
        <p:spPr>
          <a:xfrm>
            <a:off x="466725" y="4452937"/>
            <a:ext cx="628650" cy="342900"/>
          </a:xfrm>
          <a:prstGeom prst="rect">
            <a:avLst/>
          </a:prstGeom>
          <a:noFill/>
        </p:spPr>
        <p:txBody>
          <a:bodyPr wrap="square" lIns="0" rIns="0" tIns="0" bIns="0" anchor="ctr">
            <a:spAutoFit/>
          </a:bodyPr>
          <a:lstStyle/>
          <a:p>
            <a:pPr algn="ctr"/>
            <a:r>
              <a:rPr b="1" sz="1200" i="0" u="none">
                <a:solidFill>
                  <a:srgbClr val="F8FAFC"/>
                </a:solidFill>
                <a:latin typeface="Inter"/>
              </a:rPr>
              <a:t>3</a:t>
            </a:r>
          </a:p>
        </p:txBody>
      </p:sp>
      <p:sp>
        <p:nvSpPr>
          <p:cNvPr id="13" name="TextBox 12"/>
          <p:cNvSpPr txBox="1"/>
          <p:nvPr/>
        </p:nvSpPr>
        <p:spPr>
          <a:xfrm>
            <a:off x="1304925" y="3119437"/>
            <a:ext cx="10887075" cy="190500"/>
          </a:xfrm>
          <a:prstGeom prst="rect">
            <a:avLst/>
          </a:prstGeom>
          <a:noFill/>
        </p:spPr>
        <p:txBody>
          <a:bodyPr wrap="none" lIns="0" rIns="0" tIns="0" bIns="0" anchor="t">
            <a:spAutoFit/>
          </a:bodyPr>
          <a:lstStyle/>
          <a:p>
            <a:pPr algn="l"/>
            <a:r>
              <a:rPr b="1" sz="1200" i="0" u="none">
                <a:solidFill>
                  <a:srgbClr val="0F172A"/>
                </a:solidFill>
                <a:latin typeface="Inter"/>
              </a:rPr>
              <a:t>Kiểm tra dung lượng tệp tải lên (lớn hơn 0 và tối đa 25 MB).</a:t>
            </a:r>
          </a:p>
        </p:txBody>
      </p:sp>
      <p:sp>
        <p:nvSpPr>
          <p:cNvPr id="14" name="TextBox 13"/>
          <p:cNvSpPr txBox="1"/>
          <p:nvPr/>
        </p:nvSpPr>
        <p:spPr>
          <a:xfrm>
            <a:off x="1304925" y="3824287"/>
            <a:ext cx="10887075" cy="190500"/>
          </a:xfrm>
          <a:prstGeom prst="rect">
            <a:avLst/>
          </a:prstGeom>
          <a:noFill/>
        </p:spPr>
        <p:txBody>
          <a:bodyPr wrap="none" lIns="0" rIns="0" tIns="0" bIns="0" anchor="t">
            <a:spAutoFit/>
          </a:bodyPr>
          <a:lstStyle/>
          <a:p>
            <a:pPr algn="l"/>
            <a:r>
              <a:rPr b="1" sz="1200" i="0" u="none">
                <a:solidFill>
                  <a:srgbClr val="0F172A"/>
                </a:solidFill>
                <a:latin typeface="Inter"/>
              </a:rPr>
              <a:t>Tạo metadata trước với owner_id và đường dẫn định danh để Storage RLS có dữ liệu xác minh.</a:t>
            </a:r>
          </a:p>
        </p:txBody>
      </p:sp>
      <p:sp>
        <p:nvSpPr>
          <p:cNvPr id="15" name="TextBox 14"/>
          <p:cNvSpPr txBox="1"/>
          <p:nvPr/>
        </p:nvSpPr>
        <p:spPr>
          <a:xfrm>
            <a:off x="1304925" y="4529137"/>
            <a:ext cx="10887075" cy="190500"/>
          </a:xfrm>
          <a:prstGeom prst="rect">
            <a:avLst/>
          </a:prstGeom>
          <a:noFill/>
        </p:spPr>
        <p:txBody>
          <a:bodyPr wrap="none" lIns="0" rIns="0" tIns="0" bIns="0" anchor="t">
            <a:spAutoFit/>
          </a:bodyPr>
          <a:lstStyle/>
          <a:p>
            <a:pPr algn="l"/>
            <a:r>
              <a:rPr b="1" sz="1200" i="0" u="none">
                <a:solidFill>
                  <a:srgbClr val="0F172A"/>
                </a:solidFill>
                <a:latin typeface="Inter"/>
              </a:rPr>
              <a:t>Upload tệp vào bucket riêng tư qua SDK có xác thực; thực hiện bù trừ (cleanup) nếu xảy ra lỗi.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886075"/>
            <a:ext cx="10972800" cy="1990725"/>
          </a:xfrm>
          <a:prstGeom prst="roundRect">
            <a:avLst>
              <a:gd name="adj" fmla="val 0"/>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3" name="Table 2"/>
          <p:cNvGraphicFramePr>
            <a:graphicFrameLocks noGrp="1"/>
          </p:cNvGraphicFramePr>
          <p:nvPr/>
        </p:nvGraphicFramePr>
        <p:xfrm>
          <a:off x="609600" y="2886075"/>
          <a:ext cx="10963272" cy="1990725"/>
        </p:xfrm>
        <a:graphic>
          <a:graphicData uri="http://schemas.openxmlformats.org/drawingml/2006/table">
            <a:tbl>
              <a:tblPr firstRow="0" bandRow="0">
                <a:lnL>
                  <a:noFill/>
                </a:lnL>
                <a:lnR>
                  <a:noFill/>
                </a:lnR>
                <a:lnT>
                  <a:noFill/>
                </a:lnT>
                <a:lnB>
                  <a:noFill/>
                </a:lnB>
                <a:lnV>
                  <a:noFill/>
                </a:lnV>
                <a:lnH>
                  <a:noFill/>
                </a:lnH>
              </a:tblPr>
              <a:tblGrid>
                <a:gridCol w="2740818"/>
                <a:gridCol w="2740818"/>
                <a:gridCol w="2740818"/>
                <a:gridCol w="2740818"/>
              </a:tblGrid>
              <a:tr h="497681">
                <a:tc>
                  <a:txBody>
                    <a:bodyPr/>
                    <a:lstStyle/>
                    <a:p>
                      <a:pPr algn="l"/>
                      <a:r>
                        <a:rPr b="1" sz="1125" i="0" u="none">
                          <a:solidFill>
                            <a:srgbClr val="334155"/>
                          </a:solidFill>
                          <a:latin typeface="Inter"/>
                        </a:rPr>
                        <a:t>Vai trò</a:t>
                      </a:r>
                    </a:p>
                  </a:txBody>
                  <a:tcPr anchor="ctr" marL="63500" marR="63500" marT="25400" marB="25400">
                    <a:lnL>
                      <a:noFill/>
                    </a:lnL>
                    <a:lnR>
                      <a:noFill/>
                    </a:lnR>
                    <a:lnT>
                      <a:noFill/>
                    </a:lnT>
                    <a:lnB>
                      <a:noFill/>
                    </a:lnB>
                    <a:solidFill>
                      <a:srgbClr val="F8FAFC"/>
                    </a:solidFill>
                  </a:tcPr>
                </a:tc>
                <a:tc>
                  <a:txBody>
                    <a:bodyPr/>
                    <a:lstStyle/>
                    <a:p>
                      <a:pPr algn="ctr"/>
                      <a:r>
                        <a:rPr b="1" sz="1125" i="0" u="none">
                          <a:solidFill>
                            <a:srgbClr val="334155"/>
                          </a:solidFill>
                          <a:latin typeface="Inter"/>
                        </a:rPr>
                        <a:t>Xem / Tải</a:t>
                      </a:r>
                    </a:p>
                  </a:txBody>
                  <a:tcPr anchor="ctr" marL="63500" marR="63500" marT="25400" marB="25400">
                    <a:lnL>
                      <a:noFill/>
                    </a:lnL>
                    <a:lnR>
                      <a:noFill/>
                    </a:lnR>
                    <a:lnT>
                      <a:noFill/>
                    </a:lnT>
                    <a:lnB>
                      <a:noFill/>
                    </a:lnB>
                    <a:solidFill>
                      <a:srgbClr val="F8FAFC"/>
                    </a:solidFill>
                  </a:tcPr>
                </a:tc>
                <a:tc>
                  <a:txBody>
                    <a:bodyPr/>
                    <a:lstStyle/>
                    <a:p>
                      <a:pPr algn="ctr"/>
                      <a:r>
                        <a:rPr b="1" sz="1125" i="0" u="none">
                          <a:solidFill>
                            <a:srgbClr val="334155"/>
                          </a:solidFill>
                          <a:latin typeface="Inter"/>
                        </a:rPr>
                        <a:t>Sửa Metadata</a:t>
                      </a:r>
                    </a:p>
                  </a:txBody>
                  <a:tcPr anchor="ctr" marL="63500" marR="63500" marT="25400" marB="25400">
                    <a:lnL>
                      <a:noFill/>
                    </a:lnL>
                    <a:lnR>
                      <a:noFill/>
                    </a:lnR>
                    <a:lnT>
                      <a:noFill/>
                    </a:lnT>
                    <a:lnB>
                      <a:noFill/>
                    </a:lnB>
                    <a:solidFill>
                      <a:srgbClr val="F8FAFC"/>
                    </a:solidFill>
                  </a:tcPr>
                </a:tc>
                <a:tc>
                  <a:txBody>
                    <a:bodyPr/>
                    <a:lstStyle/>
                    <a:p>
                      <a:pPr algn="ctr"/>
                      <a:r>
                        <a:rPr b="1" sz="1125" i="0" u="none">
                          <a:solidFill>
                            <a:srgbClr val="334155"/>
                          </a:solidFill>
                          <a:latin typeface="Inter"/>
                        </a:rPr>
                        <a:t>Chia sẻ / Thu hồi</a:t>
                      </a:r>
                    </a:p>
                  </a:txBody>
                  <a:tcPr anchor="ctr" marL="63500" marR="63500" marT="25400" marB="25400">
                    <a:lnL>
                      <a:noFill/>
                    </a:lnL>
                    <a:lnR>
                      <a:noFill/>
                    </a:lnR>
                    <a:lnT>
                      <a:noFill/>
                    </a:lnT>
                    <a:lnB>
                      <a:noFill/>
                    </a:lnB>
                    <a:solidFill>
                      <a:srgbClr val="F8FAFC"/>
                    </a:solidFill>
                  </a:tcPr>
                </a:tc>
              </a:tr>
              <a:tr h="497681">
                <a:tc>
                  <a:txBody>
                    <a:bodyPr/>
                    <a:lstStyle/>
                    <a:p>
                      <a:pPr algn="l"/>
                      <a:r>
                        <a:rPr b="1" sz="1125" i="0" u="none">
                          <a:solidFill>
                            <a:srgbClr val="0F172A"/>
                          </a:solidFill>
                          <a:latin typeface="Inter"/>
                        </a:rPr>
                        <a:t>Chủ sở hữu (Owner)</a:t>
                      </a:r>
                    </a:p>
                  </a:txBody>
                  <a:tcPr anchor="ctr" marL="63500" marR="63500" marT="25400" marB="25400">
                    <a:lnL>
                      <a:noFill/>
                    </a:lnL>
                    <a:lnR>
                      <a:noFill/>
                    </a:lnR>
                    <a:lnT>
                      <a:noFill/>
                    </a:lnT>
                    <a:lnB>
                      <a:noFill/>
                    </a:lnB>
                    <a:solidFill>
                      <a:srgbClr val="FFFFFF"/>
                    </a:solidFill>
                  </a:tcPr>
                </a:tc>
                <a:tc>
                  <a:txBody>
                    <a:bodyPr/>
                    <a:lstStyle/>
                    <a:p>
                      <a:pPr algn="ctr"/>
                      <a:r>
                        <a:rPr b="1" sz="1125" i="0" u="none">
                          <a:solidFill>
                            <a:srgbClr val="0F172A"/>
                          </a:solidFill>
                          <a:latin typeface="Inter"/>
                        </a:rPr>
                        <a:t>Có</a:t>
                      </a:r>
                    </a:p>
                  </a:txBody>
                  <a:tcPr anchor="ctr" marL="63500" marR="63500" marT="25400" marB="25400">
                    <a:lnL>
                      <a:noFill/>
                    </a:lnL>
                    <a:lnR>
                      <a:noFill/>
                    </a:lnR>
                    <a:lnT>
                      <a:noFill/>
                    </a:lnT>
                    <a:lnB>
                      <a:noFill/>
                    </a:lnB>
                    <a:solidFill>
                      <a:srgbClr val="FFFFFF"/>
                    </a:solidFill>
                  </a:tcPr>
                </a:tc>
                <a:tc>
                  <a:txBody>
                    <a:bodyPr/>
                    <a:lstStyle/>
                    <a:p>
                      <a:pPr algn="ctr"/>
                      <a:r>
                        <a:rPr b="1" sz="1125" i="0" u="none">
                          <a:solidFill>
                            <a:srgbClr val="0F172A"/>
                          </a:solidFill>
                          <a:latin typeface="Inter"/>
                        </a:rPr>
                        <a:t>Có</a:t>
                      </a:r>
                    </a:p>
                  </a:txBody>
                  <a:tcPr anchor="ctr" marL="63500" marR="63500" marT="25400" marB="25400">
                    <a:lnL>
                      <a:noFill/>
                    </a:lnL>
                    <a:lnR>
                      <a:noFill/>
                    </a:lnR>
                    <a:lnT>
                      <a:noFill/>
                    </a:lnT>
                    <a:lnB>
                      <a:noFill/>
                    </a:lnB>
                    <a:solidFill>
                      <a:srgbClr val="FFFFFF"/>
                    </a:solidFill>
                  </a:tcPr>
                </a:tc>
                <a:tc>
                  <a:txBody>
                    <a:bodyPr/>
                    <a:lstStyle/>
                    <a:p>
                      <a:pPr algn="ctr"/>
                      <a:r>
                        <a:rPr b="1" sz="1125" i="0" u="none">
                          <a:solidFill>
                            <a:srgbClr val="0F172A"/>
                          </a:solidFill>
                          <a:latin typeface="Inter"/>
                        </a:rPr>
                        <a:t>Có</a:t>
                      </a:r>
                    </a:p>
                  </a:txBody>
                  <a:tcPr anchor="ctr" marL="63500" marR="63500" marT="25400" marB="25400">
                    <a:lnL>
                      <a:noFill/>
                    </a:lnL>
                    <a:lnR>
                      <a:noFill/>
                    </a:lnR>
                    <a:lnT>
                      <a:noFill/>
                    </a:lnT>
                    <a:lnB>
                      <a:noFill/>
                    </a:lnB>
                    <a:solidFill>
                      <a:srgbClr val="FFFFFF"/>
                    </a:solidFill>
                  </a:tcPr>
                </a:tc>
              </a:tr>
              <a:tr h="497681">
                <a:tc>
                  <a:txBody>
                    <a:bodyPr/>
                    <a:lstStyle/>
                    <a:p>
                      <a:pPr algn="l"/>
                      <a:r>
                        <a:rPr b="1" sz="1125" i="0" u="none">
                          <a:solidFill>
                            <a:srgbClr val="0F172A"/>
                          </a:solidFill>
                          <a:latin typeface="Inter"/>
                        </a:rPr>
                        <a:t>Biên tập viên (Editor)</a:t>
                      </a:r>
                    </a:p>
                  </a:txBody>
                  <a:tcPr anchor="ctr" marL="63500" marR="63500" marT="25400" marB="25400">
                    <a:lnL>
                      <a:noFill/>
                    </a:lnL>
                    <a:lnR>
                      <a:noFill/>
                    </a:lnR>
                    <a:lnT>
                      <a:noFill/>
                    </a:lnT>
                    <a:lnB>
                      <a:noFill/>
                    </a:lnB>
                    <a:solidFill>
                      <a:srgbClr val="FFFFFF"/>
                    </a:solidFill>
                  </a:tcPr>
                </a:tc>
                <a:tc>
                  <a:txBody>
                    <a:bodyPr/>
                    <a:lstStyle/>
                    <a:p>
                      <a:pPr algn="ctr"/>
                      <a:r>
                        <a:rPr b="1" sz="1125" i="0" u="none">
                          <a:solidFill>
                            <a:srgbClr val="0F172A"/>
                          </a:solidFill>
                          <a:latin typeface="Inter"/>
                        </a:rPr>
                        <a:t>Có</a:t>
                      </a:r>
                    </a:p>
                  </a:txBody>
                  <a:tcPr anchor="ctr" marL="63500" marR="63500" marT="25400" marB="25400">
                    <a:lnL>
                      <a:noFill/>
                    </a:lnL>
                    <a:lnR>
                      <a:noFill/>
                    </a:lnR>
                    <a:lnT>
                      <a:noFill/>
                    </a:lnT>
                    <a:lnB>
                      <a:noFill/>
                    </a:lnB>
                    <a:solidFill>
                      <a:srgbClr val="FFFFFF"/>
                    </a:solidFill>
                  </a:tcPr>
                </a:tc>
                <a:tc>
                  <a:txBody>
                    <a:bodyPr/>
                    <a:lstStyle/>
                    <a:p>
                      <a:pPr algn="ctr"/>
                      <a:r>
                        <a:rPr b="1" sz="1125" i="0" u="none">
                          <a:solidFill>
                            <a:srgbClr val="0F172A"/>
                          </a:solidFill>
                          <a:latin typeface="Inter"/>
                        </a:rPr>
                        <a:t>Có</a:t>
                      </a:r>
                    </a:p>
                  </a:txBody>
                  <a:tcPr anchor="ctr" marL="63500" marR="63500" marT="25400" marB="25400">
                    <a:lnL>
                      <a:noFill/>
                    </a:lnL>
                    <a:lnR>
                      <a:noFill/>
                    </a:lnR>
                    <a:lnT>
                      <a:noFill/>
                    </a:lnT>
                    <a:lnB>
                      <a:noFill/>
                    </a:lnB>
                    <a:solidFill>
                      <a:srgbClr val="FFFFFF"/>
                    </a:solidFill>
                  </a:tcPr>
                </a:tc>
                <a:tc>
                  <a:txBody>
                    <a:bodyPr/>
                    <a:lstStyle/>
                    <a:p>
                      <a:pPr algn="ctr"/>
                      <a:r>
                        <a:rPr b="1" sz="1125" i="0" u="none">
                          <a:solidFill>
                            <a:srgbClr val="EF4444"/>
                          </a:solidFill>
                          <a:latin typeface="Inter"/>
                        </a:rPr>
                        <a:t>Không</a:t>
                      </a:r>
                    </a:p>
                  </a:txBody>
                  <a:tcPr anchor="ctr" marL="63500" marR="63500" marT="25400" marB="25400">
                    <a:lnL>
                      <a:noFill/>
                    </a:lnL>
                    <a:lnR>
                      <a:noFill/>
                    </a:lnR>
                    <a:lnT>
                      <a:noFill/>
                    </a:lnT>
                    <a:lnB>
                      <a:noFill/>
                    </a:lnB>
                    <a:solidFill>
                      <a:srgbClr val="FFFFFF"/>
                    </a:solidFill>
                  </a:tcPr>
                </a:tc>
              </a:tr>
              <a:tr h="497682">
                <a:tc>
                  <a:txBody>
                    <a:bodyPr/>
                    <a:lstStyle/>
                    <a:p>
                      <a:pPr algn="l"/>
                      <a:r>
                        <a:rPr b="1" sz="1125" i="0" u="none">
                          <a:solidFill>
                            <a:srgbClr val="0F172A"/>
                          </a:solidFill>
                          <a:latin typeface="Inter"/>
                        </a:rPr>
                        <a:t>Người xem (Viewer)</a:t>
                      </a:r>
                    </a:p>
                  </a:txBody>
                  <a:tcPr anchor="ctr" marL="63500" marR="63500" marT="25400" marB="25400">
                    <a:lnL>
                      <a:noFill/>
                    </a:lnL>
                    <a:lnR>
                      <a:noFill/>
                    </a:lnR>
                    <a:lnT>
                      <a:noFill/>
                    </a:lnT>
                    <a:lnB>
                      <a:noFill/>
                    </a:lnB>
                    <a:solidFill>
                      <a:srgbClr val="FFFFFF"/>
                    </a:solidFill>
                  </a:tcPr>
                </a:tc>
                <a:tc>
                  <a:txBody>
                    <a:bodyPr/>
                    <a:lstStyle/>
                    <a:p>
                      <a:pPr algn="ctr"/>
                      <a:r>
                        <a:rPr b="1" sz="1125" i="0" u="none">
                          <a:solidFill>
                            <a:srgbClr val="0F172A"/>
                          </a:solidFill>
                          <a:latin typeface="Inter"/>
                        </a:rPr>
                        <a:t>Có</a:t>
                      </a:r>
                    </a:p>
                  </a:txBody>
                  <a:tcPr anchor="ctr" marL="63500" marR="63500" marT="25400" marB="25400">
                    <a:lnL>
                      <a:noFill/>
                    </a:lnL>
                    <a:lnR>
                      <a:noFill/>
                    </a:lnR>
                    <a:lnT>
                      <a:noFill/>
                    </a:lnT>
                    <a:lnB>
                      <a:noFill/>
                    </a:lnB>
                    <a:solidFill>
                      <a:srgbClr val="FFFFFF"/>
                    </a:solidFill>
                  </a:tcPr>
                </a:tc>
                <a:tc>
                  <a:txBody>
                    <a:bodyPr/>
                    <a:lstStyle/>
                    <a:p>
                      <a:pPr algn="ctr"/>
                      <a:r>
                        <a:rPr b="1" sz="1125" i="0" u="none">
                          <a:solidFill>
                            <a:srgbClr val="EF4444"/>
                          </a:solidFill>
                          <a:latin typeface="Inter"/>
                        </a:rPr>
                        <a:t>Không</a:t>
                      </a:r>
                    </a:p>
                  </a:txBody>
                  <a:tcPr anchor="ctr" marL="63500" marR="63500" marT="25400" marB="25400">
                    <a:lnL>
                      <a:noFill/>
                    </a:lnL>
                    <a:lnR>
                      <a:noFill/>
                    </a:lnR>
                    <a:lnT>
                      <a:noFill/>
                    </a:lnT>
                    <a:lnB>
                      <a:noFill/>
                    </a:lnB>
                    <a:solidFill>
                      <a:srgbClr val="FFFFFF"/>
                    </a:solidFill>
                  </a:tcPr>
                </a:tc>
                <a:tc>
                  <a:txBody>
                    <a:bodyPr/>
                    <a:lstStyle/>
                    <a:p>
                      <a:pPr algn="ctr"/>
                      <a:r>
                        <a:rPr b="1" sz="1125" i="0" u="none">
                          <a:solidFill>
                            <a:srgbClr val="EF4444"/>
                          </a:solidFill>
                          <a:latin typeface="Inter"/>
                        </a:rPr>
                        <a:t>Không</a:t>
                      </a:r>
                    </a:p>
                  </a:txBody>
                  <a:tcPr anchor="ctr" marL="63500" marR="63500" marT="25400" marB="25400">
                    <a:lnL>
                      <a:noFill/>
                    </a:lnL>
                    <a:lnR>
                      <a:noFill/>
                    </a:lnR>
                    <a:lnT>
                      <a:noFill/>
                    </a:lnT>
                    <a:lnB>
                      <a:noFill/>
                    </a:lnB>
                    <a:solidFill>
                      <a:srgbClr val="FFFFFF"/>
                    </a:solidFill>
                  </a:tcPr>
                </a:tc>
              </a:tr>
            </a:tbl>
          </a:graphicData>
        </a:graphic>
      </p:graphicFrame>
      <p:sp>
        <p:nvSpPr>
          <p:cNvPr id="4" name="TextBox 3"/>
          <p:cNvSpPr txBox="1"/>
          <p:nvPr/>
        </p:nvSpPr>
        <p:spPr>
          <a:xfrm>
            <a:off x="609600" y="533400"/>
            <a:ext cx="11582400" cy="371475"/>
          </a:xfrm>
          <a:prstGeom prst="rect">
            <a:avLst/>
          </a:prstGeom>
          <a:noFill/>
        </p:spPr>
        <p:txBody>
          <a:bodyPr wrap="none" lIns="0" rIns="0" tIns="0" bIns="0" anchor="t">
            <a:spAutoFit/>
          </a:bodyPr>
          <a:lstStyle/>
          <a:p>
            <a:pPr algn="l"/>
            <a:r>
              <a:rPr b="1" sz="2400" i="0" u="none">
                <a:solidFill>
                  <a:srgbClr val="0F172A"/>
                </a:solidFill>
                <a:latin typeface="Inter"/>
              </a:rPr>
              <a:t>Chia sẻ quyền truy cập tài liệu</a:t>
            </a:r>
          </a:p>
        </p:txBody>
      </p:sp>
      <p:sp>
        <p:nvSpPr>
          <p:cNvPr id="5" name="TextBox 4"/>
          <p:cNvSpPr txBox="1"/>
          <p:nvPr/>
        </p:nvSpPr>
        <p:spPr>
          <a:xfrm>
            <a:off x="609600" y="1019175"/>
            <a:ext cx="11582400" cy="190500"/>
          </a:xfrm>
          <a:prstGeom prst="rect">
            <a:avLst/>
          </a:prstGeom>
          <a:noFill/>
        </p:spPr>
        <p:txBody>
          <a:bodyPr wrap="none" lIns="0" rIns="0" tIns="0" bIns="0" anchor="t">
            <a:spAutoFit/>
          </a:bodyPr>
          <a:lstStyle/>
          <a:p>
            <a:pPr algn="l"/>
            <a:r>
              <a:rPr b="0" sz="1200" i="0" u="none">
                <a:solidFill>
                  <a:srgbClr val="64748B"/>
                </a:solidFill>
                <a:latin typeface="Inter"/>
              </a:rPr>
              <a:t>Kiểm soát quyền truy cập chặt chẽ ở cấp độ Database và Storage.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3043237"/>
            <a:ext cx="342900" cy="342900"/>
          </a:xfrm>
          <a:prstGeom prst="roundRect">
            <a:avLst>
              <a:gd name="adj" fmla="val 50000"/>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04900" y="2957512"/>
            <a:ext cx="10477500" cy="514350"/>
          </a:xfrm>
          <a:prstGeom prst="roundRect">
            <a:avLst>
              <a:gd name="adj" fmla="val 18518"/>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09600" y="3748087"/>
            <a:ext cx="342900" cy="342900"/>
          </a:xfrm>
          <a:prstGeom prst="roundRect">
            <a:avLst>
              <a:gd name="adj" fmla="val 50000"/>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104900" y="3662362"/>
            <a:ext cx="10477500" cy="514350"/>
          </a:xfrm>
          <a:prstGeom prst="roundRect">
            <a:avLst>
              <a:gd name="adj" fmla="val 18518"/>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09600" y="4452937"/>
            <a:ext cx="342900" cy="342900"/>
          </a:xfrm>
          <a:prstGeom prst="roundRect">
            <a:avLst>
              <a:gd name="adj" fmla="val 50000"/>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104900" y="4367212"/>
            <a:ext cx="10477500" cy="514350"/>
          </a:xfrm>
          <a:prstGeom prst="roundRect">
            <a:avLst>
              <a:gd name="adj" fmla="val 18518"/>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9600" y="533400"/>
            <a:ext cx="11582400" cy="371475"/>
          </a:xfrm>
          <a:prstGeom prst="rect">
            <a:avLst/>
          </a:prstGeom>
          <a:noFill/>
        </p:spPr>
        <p:txBody>
          <a:bodyPr wrap="none" lIns="0" rIns="0" tIns="0" bIns="0" anchor="t">
            <a:spAutoFit/>
          </a:bodyPr>
          <a:lstStyle/>
          <a:p>
            <a:pPr algn="l"/>
            <a:r>
              <a:rPr b="1" sz="2400" i="0" u="none">
                <a:solidFill>
                  <a:srgbClr val="0F172A"/>
                </a:solidFill>
                <a:latin typeface="Inter"/>
              </a:rPr>
              <a:t>Quy trình yêu cầu mượn và phê duyệt</a:t>
            </a:r>
          </a:p>
        </p:txBody>
      </p:sp>
      <p:sp>
        <p:nvSpPr>
          <p:cNvPr id="9" name="TextBox 8"/>
          <p:cNvSpPr txBox="1"/>
          <p:nvPr/>
        </p:nvSpPr>
        <p:spPr>
          <a:xfrm>
            <a:off x="609600" y="1019175"/>
            <a:ext cx="11582400" cy="190500"/>
          </a:xfrm>
          <a:prstGeom prst="rect">
            <a:avLst/>
          </a:prstGeom>
          <a:noFill/>
        </p:spPr>
        <p:txBody>
          <a:bodyPr wrap="none" lIns="0" rIns="0" tIns="0" bIns="0" anchor="t">
            <a:spAutoFit/>
          </a:bodyPr>
          <a:lstStyle/>
          <a:p>
            <a:pPr algn="l"/>
            <a:r>
              <a:rPr b="0" sz="1200" i="0" u="none">
                <a:solidFill>
                  <a:srgbClr val="64748B"/>
                </a:solidFill>
                <a:latin typeface="Inter"/>
              </a:rPr>
              <a:t>Luồng nghiệp vụ xử lý yêu cầu mượn tài liệu số và cấp quyền tự động.</a:t>
            </a:r>
          </a:p>
        </p:txBody>
      </p:sp>
      <p:sp>
        <p:nvSpPr>
          <p:cNvPr id="10" name="TextBox 9"/>
          <p:cNvSpPr txBox="1"/>
          <p:nvPr/>
        </p:nvSpPr>
        <p:spPr>
          <a:xfrm>
            <a:off x="466725" y="3043237"/>
            <a:ext cx="628650" cy="342900"/>
          </a:xfrm>
          <a:prstGeom prst="rect">
            <a:avLst/>
          </a:prstGeom>
          <a:noFill/>
        </p:spPr>
        <p:txBody>
          <a:bodyPr wrap="square" lIns="0" rIns="0" tIns="0" bIns="0" anchor="ctr">
            <a:spAutoFit/>
          </a:bodyPr>
          <a:lstStyle/>
          <a:p>
            <a:pPr algn="ctr"/>
            <a:r>
              <a:rPr b="1" sz="1200" i="0" u="none">
                <a:solidFill>
                  <a:srgbClr val="FFFFFF"/>
                </a:solidFill>
                <a:latin typeface="Inter"/>
              </a:rPr>
              <a:t>1</a:t>
            </a:r>
          </a:p>
        </p:txBody>
      </p:sp>
      <p:sp>
        <p:nvSpPr>
          <p:cNvPr id="11" name="TextBox 10"/>
          <p:cNvSpPr txBox="1"/>
          <p:nvPr/>
        </p:nvSpPr>
        <p:spPr>
          <a:xfrm>
            <a:off x="466725" y="3748087"/>
            <a:ext cx="628650" cy="342900"/>
          </a:xfrm>
          <a:prstGeom prst="rect">
            <a:avLst/>
          </a:prstGeom>
          <a:noFill/>
        </p:spPr>
        <p:txBody>
          <a:bodyPr wrap="square" lIns="0" rIns="0" tIns="0" bIns="0" anchor="ctr">
            <a:spAutoFit/>
          </a:bodyPr>
          <a:lstStyle/>
          <a:p>
            <a:pPr algn="ctr"/>
            <a:r>
              <a:rPr b="1" sz="1200" i="0" u="none">
                <a:solidFill>
                  <a:srgbClr val="FFFFFF"/>
                </a:solidFill>
                <a:latin typeface="Inter"/>
              </a:rPr>
              <a:t>2</a:t>
            </a:r>
          </a:p>
        </p:txBody>
      </p:sp>
      <p:sp>
        <p:nvSpPr>
          <p:cNvPr id="12" name="TextBox 11"/>
          <p:cNvSpPr txBox="1"/>
          <p:nvPr/>
        </p:nvSpPr>
        <p:spPr>
          <a:xfrm>
            <a:off x="466725" y="4452937"/>
            <a:ext cx="628650" cy="342900"/>
          </a:xfrm>
          <a:prstGeom prst="rect">
            <a:avLst/>
          </a:prstGeom>
          <a:noFill/>
        </p:spPr>
        <p:txBody>
          <a:bodyPr wrap="square" lIns="0" rIns="0" tIns="0" bIns="0" anchor="ctr">
            <a:spAutoFit/>
          </a:bodyPr>
          <a:lstStyle/>
          <a:p>
            <a:pPr algn="ctr"/>
            <a:r>
              <a:rPr b="1" sz="1200" i="0" u="none">
                <a:solidFill>
                  <a:srgbClr val="FFFFFF"/>
                </a:solidFill>
                <a:latin typeface="Inter"/>
              </a:rPr>
              <a:t>3</a:t>
            </a:r>
          </a:p>
        </p:txBody>
      </p:sp>
      <p:sp>
        <p:nvSpPr>
          <p:cNvPr id="13" name="TextBox 12"/>
          <p:cNvSpPr txBox="1"/>
          <p:nvPr/>
        </p:nvSpPr>
        <p:spPr>
          <a:xfrm>
            <a:off x="1304925" y="3119437"/>
            <a:ext cx="10887075" cy="190500"/>
          </a:xfrm>
          <a:prstGeom prst="rect">
            <a:avLst/>
          </a:prstGeom>
          <a:noFill/>
        </p:spPr>
        <p:txBody>
          <a:bodyPr wrap="none" lIns="0" rIns="0" tIns="0" bIns="0" anchor="t">
            <a:spAutoFit/>
          </a:bodyPr>
          <a:lstStyle/>
          <a:p>
            <a:pPr algn="l"/>
            <a:r>
              <a:rPr b="1" sz="1200" i="0" u="none">
                <a:solidFill>
                  <a:srgbClr val="0F172A"/>
                </a:solidFill>
                <a:latin typeface="Inter"/>
              </a:rPr>
              <a:t>Chủ sở hữu bật cho phép yêu cầu mượn; người dùng khác tìm kiếm tài liệu trong catalog.</a:t>
            </a:r>
          </a:p>
        </p:txBody>
      </p:sp>
      <p:sp>
        <p:nvSpPr>
          <p:cNvPr id="14" name="TextBox 13"/>
          <p:cNvSpPr txBox="1"/>
          <p:nvPr/>
        </p:nvSpPr>
        <p:spPr>
          <a:xfrm>
            <a:off x="1304925" y="3824287"/>
            <a:ext cx="10887075" cy="190500"/>
          </a:xfrm>
          <a:prstGeom prst="rect">
            <a:avLst/>
          </a:prstGeom>
          <a:noFill/>
        </p:spPr>
        <p:txBody>
          <a:bodyPr wrap="none" lIns="0" rIns="0" tIns="0" bIns="0" anchor="t">
            <a:spAutoFit/>
          </a:bodyPr>
          <a:lstStyle/>
          <a:p>
            <a:pPr algn="l"/>
            <a:r>
              <a:rPr b="1" sz="1200" i="0" u="none">
                <a:solidFill>
                  <a:srgbClr val="0F172A"/>
                </a:solidFill>
                <a:latin typeface="Inter"/>
              </a:rPr>
              <a:t>Gửi yêu cầu mượn (trạng thái pending); chặn tự mượn tài liệu của chính mình.</a:t>
            </a:r>
          </a:p>
        </p:txBody>
      </p:sp>
      <p:sp>
        <p:nvSpPr>
          <p:cNvPr id="15" name="TextBox 14"/>
          <p:cNvSpPr txBox="1"/>
          <p:nvPr/>
        </p:nvSpPr>
        <p:spPr>
          <a:xfrm>
            <a:off x="1304925" y="4529137"/>
            <a:ext cx="10887075" cy="190500"/>
          </a:xfrm>
          <a:prstGeom prst="rect">
            <a:avLst/>
          </a:prstGeom>
          <a:noFill/>
        </p:spPr>
        <p:txBody>
          <a:bodyPr wrap="none" lIns="0" rIns="0" tIns="0" bIns="0" anchor="t">
            <a:spAutoFit/>
          </a:bodyPr>
          <a:lstStyle/>
          <a:p>
            <a:pPr algn="l"/>
            <a:r>
              <a:rPr b="1" sz="1200" i="0" u="none">
                <a:solidFill>
                  <a:srgbClr val="0F172A"/>
                </a:solidFill>
                <a:latin typeface="Inter"/>
              </a:rPr>
              <a:t>Chủ sở hữu duyệt: approved tự động cấp quyền viewer, rejected từ chối cấp quyền trong giao dịch SQL.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3062287"/>
            <a:ext cx="5353050" cy="1676400"/>
          </a:xfrm>
          <a:prstGeom prst="roundRect">
            <a:avLst>
              <a:gd name="adj" fmla="val 6818"/>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229350" y="3062287"/>
            <a:ext cx="5353050" cy="1676400"/>
          </a:xfrm>
          <a:prstGeom prst="roundRect">
            <a:avLst>
              <a:gd name="adj" fmla="val 6818"/>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tretch>
            <a:fillRect/>
          </a:stretch>
        </p:blipFill>
        <p:spPr>
          <a:xfrm>
            <a:off x="885825" y="3357562"/>
            <a:ext cx="152400" cy="171450"/>
          </a:xfrm>
          <a:prstGeom prst="rect">
            <a:avLst/>
          </a:prstGeom>
        </p:spPr>
      </p:pic>
      <p:pic>
        <p:nvPicPr>
          <p:cNvPr id="5" name="Picture 4" descr="image.png"/>
          <p:cNvPicPr>
            <a:picLocks noChangeAspect="1"/>
          </p:cNvPicPr>
          <p:nvPr/>
        </p:nvPicPr>
        <p:blipFill>
          <a:blip r:embed="rId3"/>
          <a:stretch>
            <a:fillRect/>
          </a:stretch>
        </p:blipFill>
        <p:spPr>
          <a:xfrm>
            <a:off x="6505575" y="3357562"/>
            <a:ext cx="152400" cy="171450"/>
          </a:xfrm>
          <a:prstGeom prst="rect">
            <a:avLst/>
          </a:prstGeom>
        </p:spPr>
      </p:pic>
      <p:sp>
        <p:nvSpPr>
          <p:cNvPr id="6" name="TextBox 5"/>
          <p:cNvSpPr txBox="1"/>
          <p:nvPr/>
        </p:nvSpPr>
        <p:spPr>
          <a:xfrm>
            <a:off x="609600" y="533400"/>
            <a:ext cx="11582400" cy="371475"/>
          </a:xfrm>
          <a:prstGeom prst="rect">
            <a:avLst/>
          </a:prstGeom>
          <a:noFill/>
        </p:spPr>
        <p:txBody>
          <a:bodyPr wrap="none" lIns="0" rIns="0" tIns="0" bIns="0" anchor="t">
            <a:spAutoFit/>
          </a:bodyPr>
          <a:lstStyle/>
          <a:p>
            <a:pPr algn="l"/>
            <a:r>
              <a:rPr b="1" sz="2400" i="0" u="none">
                <a:solidFill>
                  <a:srgbClr val="0F172A"/>
                </a:solidFill>
                <a:latin typeface="Inter"/>
              </a:rPr>
              <a:t>Tương tác thời gian thực và FCM</a:t>
            </a:r>
          </a:p>
        </p:txBody>
      </p:sp>
      <p:sp>
        <p:nvSpPr>
          <p:cNvPr id="7" name="TextBox 6"/>
          <p:cNvSpPr txBox="1"/>
          <p:nvPr/>
        </p:nvSpPr>
        <p:spPr>
          <a:xfrm>
            <a:off x="609600" y="1019175"/>
            <a:ext cx="11582400" cy="190500"/>
          </a:xfrm>
          <a:prstGeom prst="rect">
            <a:avLst/>
          </a:prstGeom>
          <a:noFill/>
        </p:spPr>
        <p:txBody>
          <a:bodyPr wrap="none" lIns="0" rIns="0" tIns="0" bIns="0" anchor="t">
            <a:spAutoFit/>
          </a:bodyPr>
          <a:lstStyle/>
          <a:p>
            <a:pPr algn="l"/>
            <a:r>
              <a:rPr b="0" sz="1200" i="0" u="none">
                <a:solidFill>
                  <a:srgbClr val="64748B"/>
                </a:solidFill>
                <a:latin typeface="Inter"/>
              </a:rPr>
              <a:t>Cập nhật dữ liệu tức thời và thông báo đẩy sự kiện qua Firebase Messaging.</a:t>
            </a:r>
          </a:p>
        </p:txBody>
      </p:sp>
      <p:sp>
        <p:nvSpPr>
          <p:cNvPr id="8" name="TextBox 7"/>
          <p:cNvSpPr txBox="1"/>
          <p:nvPr/>
        </p:nvSpPr>
        <p:spPr>
          <a:xfrm>
            <a:off x="885825" y="3338512"/>
            <a:ext cx="6300787" cy="200025"/>
          </a:xfrm>
          <a:prstGeom prst="rect">
            <a:avLst/>
          </a:prstGeom>
          <a:noFill/>
        </p:spPr>
        <p:txBody>
          <a:bodyPr wrap="none" lIns="228600" rIns="0" tIns="0" bIns="0" anchor="t">
            <a:spAutoFit/>
          </a:bodyPr>
          <a:lstStyle/>
          <a:p>
            <a:pPr algn="l"/>
            <a:r>
              <a:rPr b="1" sz="1350" i="0" u="none">
                <a:solidFill>
                  <a:srgbClr val="0F172A"/>
                </a:solidFill>
                <a:latin typeface="Inter"/>
              </a:rPr>
              <a:t>Supabase Realtime</a:t>
            </a:r>
          </a:p>
        </p:txBody>
      </p:sp>
      <p:sp>
        <p:nvSpPr>
          <p:cNvPr id="9" name="TextBox 8"/>
          <p:cNvSpPr txBox="1"/>
          <p:nvPr/>
        </p:nvSpPr>
        <p:spPr>
          <a:xfrm>
            <a:off x="6505575" y="3338512"/>
            <a:ext cx="5686425" cy="200025"/>
          </a:xfrm>
          <a:prstGeom prst="rect">
            <a:avLst/>
          </a:prstGeom>
          <a:noFill/>
        </p:spPr>
        <p:txBody>
          <a:bodyPr wrap="none" lIns="228600" rIns="0" tIns="0" bIns="0" anchor="t">
            <a:spAutoFit/>
          </a:bodyPr>
          <a:lstStyle/>
          <a:p>
            <a:pPr algn="l"/>
            <a:r>
              <a:rPr b="1" sz="1350" i="0" u="none">
                <a:solidFill>
                  <a:srgbClr val="0F172A"/>
                </a:solidFill>
                <a:latin typeface="Inter"/>
              </a:rPr>
              <a:t>FCM &amp; Edge Function</a:t>
            </a:r>
          </a:p>
        </p:txBody>
      </p:sp>
      <p:sp>
        <p:nvSpPr>
          <p:cNvPr id="10" name="TextBox 9"/>
          <p:cNvSpPr txBox="1"/>
          <p:nvPr/>
        </p:nvSpPr>
        <p:spPr>
          <a:xfrm>
            <a:off x="885825" y="3690937"/>
            <a:ext cx="6000750" cy="180975"/>
          </a:xfrm>
          <a:prstGeom prst="rect">
            <a:avLst/>
          </a:prstGeom>
          <a:noFill/>
        </p:spPr>
        <p:txBody>
          <a:bodyPr wrap="none" lIns="0" rIns="0" tIns="0" bIns="0" anchor="t">
            <a:spAutoFit/>
          </a:bodyPr>
          <a:lstStyle/>
          <a:p>
            <a:pPr algn="l"/>
            <a:r>
              <a:rPr b="0" sz="1125" i="0" u="none">
                <a:solidFill>
                  <a:srgbClr val="475569"/>
                </a:solidFill>
                <a:latin typeface="Inter"/>
              </a:rPr>
              <a:t>Theo dõi thay đổi bảng documents, permissions và borrow_requests.</a:t>
            </a:r>
          </a:p>
        </p:txBody>
      </p:sp>
      <p:sp>
        <p:nvSpPr>
          <p:cNvPr id="11" name="TextBox 10"/>
          <p:cNvSpPr txBox="1"/>
          <p:nvPr/>
        </p:nvSpPr>
        <p:spPr>
          <a:xfrm>
            <a:off x="885825" y="3986212"/>
            <a:ext cx="6000750" cy="180975"/>
          </a:xfrm>
          <a:prstGeom prst="rect">
            <a:avLst/>
          </a:prstGeom>
          <a:noFill/>
        </p:spPr>
        <p:txBody>
          <a:bodyPr wrap="none" lIns="0" rIns="0" tIns="0" bIns="0" anchor="t">
            <a:spAutoFit/>
          </a:bodyPr>
          <a:lstStyle/>
          <a:p>
            <a:pPr algn="l"/>
            <a:r>
              <a:rPr b="0" sz="1125" i="0" u="none">
                <a:solidFill>
                  <a:srgbClr val="475569"/>
                </a:solidFill>
                <a:latin typeface="Inter"/>
              </a:rPr>
              <a:t>Truy vấn lại theo RLS để cập nhật danh sách và quyền sau mỗi sự kiện.</a:t>
            </a:r>
          </a:p>
        </p:txBody>
      </p:sp>
      <p:sp>
        <p:nvSpPr>
          <p:cNvPr id="12" name="TextBox 11"/>
          <p:cNvSpPr txBox="1"/>
          <p:nvPr/>
        </p:nvSpPr>
        <p:spPr>
          <a:xfrm>
            <a:off x="885825" y="4281487"/>
            <a:ext cx="6000750" cy="180975"/>
          </a:xfrm>
          <a:prstGeom prst="rect">
            <a:avLst/>
          </a:prstGeom>
          <a:noFill/>
        </p:spPr>
        <p:txBody>
          <a:bodyPr wrap="none" lIns="0" rIns="0" tIns="0" bIns="0" anchor="t">
            <a:spAutoFit/>
          </a:bodyPr>
          <a:lstStyle/>
          <a:p>
            <a:pPr algn="l"/>
            <a:r>
              <a:rPr b="0" sz="1125" i="0" u="none">
                <a:solidFill>
                  <a:srgbClr val="475569"/>
                </a:solidFill>
                <a:latin typeface="Inter"/>
              </a:rPr>
              <a:t>Kiểm tra lại định kỳ mỗi 15 giây bù đắp sự kiện bị bỏ lỡ.</a:t>
            </a:r>
          </a:p>
        </p:txBody>
      </p:sp>
      <p:sp>
        <p:nvSpPr>
          <p:cNvPr id="13" name="TextBox 12"/>
          <p:cNvSpPr txBox="1"/>
          <p:nvPr/>
        </p:nvSpPr>
        <p:spPr>
          <a:xfrm>
            <a:off x="6505575" y="3690937"/>
            <a:ext cx="5686425" cy="180975"/>
          </a:xfrm>
          <a:prstGeom prst="rect">
            <a:avLst/>
          </a:prstGeom>
          <a:noFill/>
        </p:spPr>
        <p:txBody>
          <a:bodyPr wrap="none" lIns="0" rIns="0" tIns="0" bIns="0" anchor="t">
            <a:spAutoFit/>
          </a:bodyPr>
          <a:lstStyle/>
          <a:p>
            <a:pPr algn="l"/>
            <a:r>
              <a:rPr b="0" sz="1125" i="0" u="none">
                <a:solidFill>
                  <a:srgbClr val="475569"/>
                </a:solidFill>
                <a:latin typeface="Inter"/>
              </a:rPr>
              <a:t>Edge Function xác minh Firebase JWT trước khi gửi thông báo đẩy.</a:t>
            </a:r>
          </a:p>
        </p:txBody>
      </p:sp>
      <p:sp>
        <p:nvSpPr>
          <p:cNvPr id="14" name="TextBox 13"/>
          <p:cNvSpPr txBox="1"/>
          <p:nvPr/>
        </p:nvSpPr>
        <p:spPr>
          <a:xfrm>
            <a:off x="6505575" y="3986212"/>
            <a:ext cx="5686425" cy="180975"/>
          </a:xfrm>
          <a:prstGeom prst="rect">
            <a:avLst/>
          </a:prstGeom>
          <a:noFill/>
        </p:spPr>
        <p:txBody>
          <a:bodyPr wrap="none" lIns="0" rIns="0" tIns="0" bIns="0" anchor="t">
            <a:spAutoFit/>
          </a:bodyPr>
          <a:lstStyle/>
          <a:p>
            <a:pPr algn="l"/>
            <a:r>
              <a:rPr b="0" sz="1125" i="0" u="none">
                <a:solidFill>
                  <a:srgbClr val="475569"/>
                </a:solidFill>
                <a:latin typeface="Inter"/>
              </a:rPr>
              <a:t>Tách biệt lỗi push notification không làm ảnh hưởng nghiệp vụ đã lưu.</a:t>
            </a:r>
          </a:p>
        </p:txBody>
      </p:sp>
      <p:sp>
        <p:nvSpPr>
          <p:cNvPr id="15" name="TextBox 14"/>
          <p:cNvSpPr txBox="1"/>
          <p:nvPr/>
        </p:nvSpPr>
        <p:spPr>
          <a:xfrm>
            <a:off x="6505575" y="4281487"/>
            <a:ext cx="5686425" cy="180975"/>
          </a:xfrm>
          <a:prstGeom prst="rect">
            <a:avLst/>
          </a:prstGeom>
          <a:noFill/>
        </p:spPr>
        <p:txBody>
          <a:bodyPr wrap="none" lIns="0" rIns="0" tIns="0" bIns="0" anchor="t">
            <a:spAutoFit/>
          </a:bodyPr>
          <a:lstStyle/>
          <a:p>
            <a:pPr algn="l"/>
            <a:r>
              <a:rPr b="0" sz="1125" i="0" u="none">
                <a:solidFill>
                  <a:srgbClr val="475569"/>
                </a:solidFill>
                <a:latin typeface="Inter"/>
              </a:rPr>
              <a:t>Quản lý token thiết bị riêng biệt theo từng tài khoản người dùng.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914650"/>
            <a:ext cx="5353050" cy="1971675"/>
          </a:xfrm>
          <a:prstGeom prst="roundRect">
            <a:avLst>
              <a:gd name="adj" fmla="val 5797"/>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229350" y="3062287"/>
            <a:ext cx="5353050" cy="1676400"/>
          </a:xfrm>
          <a:prstGeom prst="roundRect">
            <a:avLst>
              <a:gd name="adj" fmla="val 6818"/>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tretch>
            <a:fillRect/>
          </a:stretch>
        </p:blipFill>
        <p:spPr>
          <a:xfrm>
            <a:off x="885825" y="3209925"/>
            <a:ext cx="219075" cy="171450"/>
          </a:xfrm>
          <a:prstGeom prst="rect">
            <a:avLst/>
          </a:prstGeom>
        </p:spPr>
      </p:pic>
      <p:pic>
        <p:nvPicPr>
          <p:cNvPr id="5" name="Picture 4" descr="image.png"/>
          <p:cNvPicPr>
            <a:picLocks noChangeAspect="1"/>
          </p:cNvPicPr>
          <p:nvPr/>
        </p:nvPicPr>
        <p:blipFill>
          <a:blip r:embed="rId3"/>
          <a:stretch>
            <a:fillRect/>
          </a:stretch>
        </p:blipFill>
        <p:spPr>
          <a:xfrm>
            <a:off x="6505575" y="3357562"/>
            <a:ext cx="171450" cy="171450"/>
          </a:xfrm>
          <a:prstGeom prst="rect">
            <a:avLst/>
          </a:prstGeom>
        </p:spPr>
      </p:pic>
      <p:sp>
        <p:nvSpPr>
          <p:cNvPr id="6" name="TextBox 5"/>
          <p:cNvSpPr txBox="1"/>
          <p:nvPr/>
        </p:nvSpPr>
        <p:spPr>
          <a:xfrm>
            <a:off x="609600" y="533400"/>
            <a:ext cx="11582400" cy="371475"/>
          </a:xfrm>
          <a:prstGeom prst="rect">
            <a:avLst/>
          </a:prstGeom>
          <a:noFill/>
        </p:spPr>
        <p:txBody>
          <a:bodyPr wrap="none" lIns="0" rIns="0" tIns="0" bIns="0" anchor="t">
            <a:spAutoFit/>
          </a:bodyPr>
          <a:lstStyle/>
          <a:p>
            <a:pPr algn="l"/>
            <a:r>
              <a:rPr b="1" sz="2400" i="0" u="none">
                <a:solidFill>
                  <a:srgbClr val="0F172A"/>
                </a:solidFill>
                <a:latin typeface="Inter"/>
              </a:rPr>
              <a:t>Thuật toán gợi ý tài liệu</a:t>
            </a:r>
          </a:p>
        </p:txBody>
      </p:sp>
      <p:sp>
        <p:nvSpPr>
          <p:cNvPr id="7" name="TextBox 6"/>
          <p:cNvSpPr txBox="1"/>
          <p:nvPr/>
        </p:nvSpPr>
        <p:spPr>
          <a:xfrm>
            <a:off x="609600" y="1019175"/>
            <a:ext cx="11582400" cy="190500"/>
          </a:xfrm>
          <a:prstGeom prst="rect">
            <a:avLst/>
          </a:prstGeom>
          <a:noFill/>
        </p:spPr>
        <p:txBody>
          <a:bodyPr wrap="none" lIns="0" rIns="0" tIns="0" bIns="0" anchor="t">
            <a:spAutoFit/>
          </a:bodyPr>
          <a:lstStyle/>
          <a:p>
            <a:pPr algn="l"/>
            <a:r>
              <a:rPr b="0" sz="1200" i="0" u="none">
                <a:solidFill>
                  <a:srgbClr val="64748B"/>
                </a:solidFill>
                <a:latin typeface="Inter"/>
              </a:rPr>
              <a:t>Xếp hạng thông minh dựa trên tag sở thích, lịch sử truy cập và môn học.</a:t>
            </a:r>
          </a:p>
        </p:txBody>
      </p:sp>
      <p:sp>
        <p:nvSpPr>
          <p:cNvPr id="8" name="TextBox 7"/>
          <p:cNvSpPr txBox="1"/>
          <p:nvPr/>
        </p:nvSpPr>
        <p:spPr>
          <a:xfrm>
            <a:off x="885825" y="3190875"/>
            <a:ext cx="6300787" cy="200025"/>
          </a:xfrm>
          <a:prstGeom prst="rect">
            <a:avLst/>
          </a:prstGeom>
          <a:noFill/>
        </p:spPr>
        <p:txBody>
          <a:bodyPr wrap="none" lIns="295275" rIns="0" tIns="0" bIns="0" anchor="t">
            <a:spAutoFit/>
          </a:bodyPr>
          <a:lstStyle/>
          <a:p>
            <a:pPr algn="l"/>
            <a:r>
              <a:rPr b="1" sz="1350" i="0" u="none">
                <a:solidFill>
                  <a:srgbClr val="0F172A"/>
                </a:solidFill>
                <a:latin typeface="Inter"/>
              </a:rPr>
              <a:t>Trọng số tín hiệu Cloud</a:t>
            </a:r>
          </a:p>
        </p:txBody>
      </p:sp>
      <p:sp>
        <p:nvSpPr>
          <p:cNvPr id="9" name="TextBox 8"/>
          <p:cNvSpPr txBox="1"/>
          <p:nvPr/>
        </p:nvSpPr>
        <p:spPr>
          <a:xfrm>
            <a:off x="6505575" y="3338512"/>
            <a:ext cx="5686425" cy="200025"/>
          </a:xfrm>
          <a:prstGeom prst="rect">
            <a:avLst/>
          </a:prstGeom>
          <a:noFill/>
        </p:spPr>
        <p:txBody>
          <a:bodyPr wrap="none" lIns="247650" rIns="0" tIns="0" bIns="0" anchor="t">
            <a:spAutoFit/>
          </a:bodyPr>
          <a:lstStyle/>
          <a:p>
            <a:pPr algn="l"/>
            <a:r>
              <a:rPr b="1" sz="1350" i="0" u="none">
                <a:solidFill>
                  <a:srgbClr val="0F172A"/>
                </a:solidFill>
                <a:latin typeface="Inter"/>
              </a:rPr>
              <a:t>Quy tắc xử lý</a:t>
            </a:r>
          </a:p>
        </p:txBody>
      </p:sp>
      <p:sp>
        <p:nvSpPr>
          <p:cNvPr id="10" name="TextBox 9"/>
          <p:cNvSpPr txBox="1"/>
          <p:nvPr/>
        </p:nvSpPr>
        <p:spPr>
          <a:xfrm>
            <a:off x="885825" y="3543300"/>
            <a:ext cx="6000750" cy="180975"/>
          </a:xfrm>
          <a:prstGeom prst="rect">
            <a:avLst/>
          </a:prstGeom>
          <a:noFill/>
        </p:spPr>
        <p:txBody>
          <a:bodyPr wrap="none" lIns="0" rIns="0" tIns="0" bIns="0" anchor="t">
            <a:spAutoFit/>
          </a:bodyPr>
          <a:lstStyle/>
          <a:p>
            <a:pPr algn="l"/>
            <a:r>
              <a:rPr b="1" sz="1125" i="0" u="none">
                <a:solidFill>
                  <a:srgbClr val="475569"/>
                </a:solidFill>
                <a:latin typeface="Inter"/>
              </a:rPr>
              <a:t>Tag sở thích người dùng:</a:t>
            </a:r>
            <a:r>
              <a:rPr b="0" sz="1125" i="0" u="none">
                <a:solidFill>
                  <a:srgbClr val="475569"/>
                </a:solidFill>
                <a:latin typeface="Inter"/>
              </a:rPr>
              <a:t> Trọng số 3.</a:t>
            </a:r>
          </a:p>
        </p:txBody>
      </p:sp>
      <p:sp>
        <p:nvSpPr>
          <p:cNvPr id="11" name="TextBox 10"/>
          <p:cNvSpPr txBox="1"/>
          <p:nvPr/>
        </p:nvSpPr>
        <p:spPr>
          <a:xfrm>
            <a:off x="885825" y="3838575"/>
            <a:ext cx="6000750" cy="180975"/>
          </a:xfrm>
          <a:prstGeom prst="rect">
            <a:avLst/>
          </a:prstGeom>
          <a:noFill/>
        </p:spPr>
        <p:txBody>
          <a:bodyPr wrap="none" lIns="0" rIns="0" tIns="0" bIns="0" anchor="t">
            <a:spAutoFit/>
          </a:bodyPr>
          <a:lstStyle/>
          <a:p>
            <a:pPr algn="l"/>
            <a:r>
              <a:rPr b="1" sz="1125" i="0" u="none">
                <a:solidFill>
                  <a:srgbClr val="475569"/>
                </a:solidFill>
                <a:latin typeface="Inter"/>
              </a:rPr>
              <a:t>Tag lịch sử tải trong 90 ngày:</a:t>
            </a:r>
            <a:r>
              <a:rPr b="0" sz="1125" i="0" u="none">
                <a:solidFill>
                  <a:srgbClr val="475569"/>
                </a:solidFill>
                <a:latin typeface="Inter"/>
              </a:rPr>
              <a:t> Trọng số 2.</a:t>
            </a:r>
          </a:p>
        </p:txBody>
      </p:sp>
      <p:sp>
        <p:nvSpPr>
          <p:cNvPr id="12" name="TextBox 11"/>
          <p:cNvSpPr txBox="1"/>
          <p:nvPr/>
        </p:nvSpPr>
        <p:spPr>
          <a:xfrm>
            <a:off x="885825" y="4133850"/>
            <a:ext cx="6000750" cy="180975"/>
          </a:xfrm>
          <a:prstGeom prst="rect">
            <a:avLst/>
          </a:prstGeom>
          <a:noFill/>
        </p:spPr>
        <p:txBody>
          <a:bodyPr wrap="none" lIns="0" rIns="0" tIns="0" bIns="0" anchor="t">
            <a:spAutoFit/>
          </a:bodyPr>
          <a:lstStyle/>
          <a:p>
            <a:pPr algn="l"/>
            <a:r>
              <a:rPr b="1" sz="1125" i="0" u="none">
                <a:solidFill>
                  <a:srgbClr val="475569"/>
                </a:solidFill>
                <a:latin typeface="Inter"/>
              </a:rPr>
              <a:t>Tag tài liệu đã được duyệt mượn:</a:t>
            </a:r>
            <a:r>
              <a:rPr b="0" sz="1125" i="0" u="none">
                <a:solidFill>
                  <a:srgbClr val="475569"/>
                </a:solidFill>
                <a:latin typeface="Inter"/>
              </a:rPr>
              <a:t> Trọng số 2.</a:t>
            </a:r>
          </a:p>
        </p:txBody>
      </p:sp>
      <p:sp>
        <p:nvSpPr>
          <p:cNvPr id="13" name="TextBox 12"/>
          <p:cNvSpPr txBox="1"/>
          <p:nvPr/>
        </p:nvSpPr>
        <p:spPr>
          <a:xfrm>
            <a:off x="885825" y="4429125"/>
            <a:ext cx="6000750" cy="180975"/>
          </a:xfrm>
          <a:prstGeom prst="rect">
            <a:avLst/>
          </a:prstGeom>
          <a:noFill/>
        </p:spPr>
        <p:txBody>
          <a:bodyPr wrap="none" lIns="0" rIns="0" tIns="0" bIns="0" anchor="t">
            <a:spAutoFit/>
          </a:bodyPr>
          <a:lstStyle/>
          <a:p>
            <a:pPr algn="l"/>
            <a:r>
              <a:rPr b="1" sz="1125" i="0" u="none">
                <a:solidFill>
                  <a:srgbClr val="475569"/>
                </a:solidFill>
                <a:latin typeface="Inter"/>
              </a:rPr>
              <a:t>Tag của tài liệu đang sở hữu:</a:t>
            </a:r>
            <a:r>
              <a:rPr b="0" sz="1125" i="0" u="none">
                <a:solidFill>
                  <a:srgbClr val="475569"/>
                </a:solidFill>
                <a:latin typeface="Inter"/>
              </a:rPr>
              <a:t> Trọng số 1.</a:t>
            </a:r>
          </a:p>
        </p:txBody>
      </p:sp>
      <p:sp>
        <p:nvSpPr>
          <p:cNvPr id="14" name="TextBox 13"/>
          <p:cNvSpPr txBox="1"/>
          <p:nvPr/>
        </p:nvSpPr>
        <p:spPr>
          <a:xfrm>
            <a:off x="6505575" y="3690937"/>
            <a:ext cx="5686425" cy="180975"/>
          </a:xfrm>
          <a:prstGeom prst="rect">
            <a:avLst/>
          </a:prstGeom>
          <a:noFill/>
        </p:spPr>
        <p:txBody>
          <a:bodyPr wrap="none" lIns="0" rIns="0" tIns="0" bIns="0" anchor="t">
            <a:spAutoFit/>
          </a:bodyPr>
          <a:lstStyle/>
          <a:p>
            <a:pPr algn="l"/>
            <a:r>
              <a:rPr b="0" sz="1125" i="0" u="none">
                <a:solidFill>
                  <a:srgbClr val="475569"/>
                </a:solidFill>
                <a:latin typeface="Inter"/>
              </a:rPr>
              <a:t>Loại bỏ tài liệu đã xóa hoặc đã hoàn thành khỏi danh sách gợi ý.</a:t>
            </a:r>
          </a:p>
        </p:txBody>
      </p:sp>
      <p:sp>
        <p:nvSpPr>
          <p:cNvPr id="15" name="TextBox 14"/>
          <p:cNvSpPr txBox="1"/>
          <p:nvPr/>
        </p:nvSpPr>
        <p:spPr>
          <a:xfrm>
            <a:off x="6505575" y="3986212"/>
            <a:ext cx="5686425" cy="180975"/>
          </a:xfrm>
          <a:prstGeom prst="rect">
            <a:avLst/>
          </a:prstGeom>
          <a:noFill/>
        </p:spPr>
        <p:txBody>
          <a:bodyPr wrap="none" lIns="0" rIns="0" tIns="0" bIns="0" anchor="t">
            <a:spAutoFit/>
          </a:bodyPr>
          <a:lstStyle/>
          <a:p>
            <a:pPr algn="l"/>
            <a:r>
              <a:rPr b="0" sz="1125" i="0" u="none">
                <a:solidFill>
                  <a:srgbClr val="475569"/>
                </a:solidFill>
                <a:latin typeface="Inter"/>
              </a:rPr>
              <a:t>Ưu tiên tag trùng khớp cao nhất; hòa điểm sẽ xét thời gian cập nhật.</a:t>
            </a:r>
          </a:p>
        </p:txBody>
      </p:sp>
      <p:sp>
        <p:nvSpPr>
          <p:cNvPr id="16" name="TextBox 15"/>
          <p:cNvSpPr txBox="1"/>
          <p:nvPr/>
        </p:nvSpPr>
        <p:spPr>
          <a:xfrm>
            <a:off x="6505575" y="4281487"/>
            <a:ext cx="5686425" cy="180975"/>
          </a:xfrm>
          <a:prstGeom prst="rect">
            <a:avLst/>
          </a:prstGeom>
          <a:noFill/>
        </p:spPr>
        <p:txBody>
          <a:bodyPr wrap="none" lIns="0" rIns="0" tIns="0" bIns="0" anchor="t">
            <a:spAutoFit/>
          </a:bodyPr>
          <a:lstStyle/>
          <a:p>
            <a:pPr algn="l"/>
            <a:r>
              <a:rPr b="0" sz="1125" i="0" u="none">
                <a:solidFill>
                  <a:srgbClr val="475569"/>
                </a:solidFill>
                <a:latin typeface="Inter"/>
              </a:rPr>
              <a:t>Kết hợp logic tính điểm Local và RPC PostgreSQL trên Cloud.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714625"/>
            <a:ext cx="10972800" cy="2333625"/>
          </a:xfrm>
          <a:prstGeom prst="roundRect">
            <a:avLst>
              <a:gd name="adj" fmla="val 0"/>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3" name="Table 2"/>
          <p:cNvGraphicFramePr>
            <a:graphicFrameLocks noGrp="1"/>
          </p:cNvGraphicFramePr>
          <p:nvPr/>
        </p:nvGraphicFramePr>
        <p:xfrm>
          <a:off x="609600" y="2714625"/>
          <a:ext cx="10963274" cy="2333625"/>
        </p:xfrm>
        <a:graphic>
          <a:graphicData uri="http://schemas.openxmlformats.org/drawingml/2006/table">
            <a:tbl>
              <a:tblPr firstRow="0" bandRow="0">
                <a:lnL>
                  <a:noFill/>
                </a:lnL>
                <a:lnR>
                  <a:noFill/>
                </a:lnR>
                <a:lnT>
                  <a:noFill/>
                </a:lnT>
                <a:lnB>
                  <a:noFill/>
                </a:lnB>
                <a:lnV>
                  <a:noFill/>
                </a:lnV>
                <a:lnH>
                  <a:noFill/>
                </a:lnH>
              </a:tblPr>
              <a:tblGrid>
                <a:gridCol w="4933354"/>
                <a:gridCol w="6029920"/>
              </a:tblGrid>
              <a:tr h="466725">
                <a:tc>
                  <a:txBody>
                    <a:bodyPr/>
                    <a:lstStyle/>
                    <a:p>
                      <a:pPr algn="l"/>
                      <a:r>
                        <a:rPr b="1" sz="1125" i="0" u="none">
                          <a:solidFill>
                            <a:srgbClr val="334155"/>
                          </a:solidFill>
                          <a:latin typeface="Inter"/>
                        </a:rPr>
                        <a:t>Vấn đề phát hiện</a:t>
                      </a:r>
                    </a:p>
                  </a:txBody>
                  <a:tcPr anchor="ctr" marL="63500" marR="63500" marT="25400" marB="25400">
                    <a:lnL>
                      <a:noFill/>
                    </a:lnL>
                    <a:lnR>
                      <a:noFill/>
                    </a:lnR>
                    <a:lnT>
                      <a:noFill/>
                    </a:lnT>
                    <a:lnB>
                      <a:noFill/>
                    </a:lnB>
                    <a:solidFill>
                      <a:srgbClr val="F8FAFC"/>
                    </a:solidFill>
                  </a:tcPr>
                </a:tc>
                <a:tc>
                  <a:txBody>
                    <a:bodyPr/>
                    <a:lstStyle/>
                    <a:p>
                      <a:pPr algn="l"/>
                      <a:r>
                        <a:rPr b="1" sz="1125" i="0" u="none">
                          <a:solidFill>
                            <a:srgbClr val="334155"/>
                          </a:solidFill>
                          <a:latin typeface="Inter"/>
                        </a:rPr>
                        <a:t>Cách đã xử lý</a:t>
                      </a:r>
                    </a:p>
                  </a:txBody>
                  <a:tcPr anchor="ctr" marL="63500" marR="63500" marT="25400" marB="25400">
                    <a:lnL>
                      <a:noFill/>
                    </a:lnL>
                    <a:lnR>
                      <a:noFill/>
                    </a:lnR>
                    <a:lnT>
                      <a:noFill/>
                    </a:lnT>
                    <a:lnB>
                      <a:noFill/>
                    </a:lnB>
                    <a:solidFill>
                      <a:srgbClr val="F8FAFC"/>
                    </a:solidFill>
                  </a:tcPr>
                </a:tc>
              </a:tr>
              <a:tr h="466725">
                <a:tc>
                  <a:txBody>
                    <a:bodyPr/>
                    <a:lstStyle/>
                    <a:p>
                      <a:pPr algn="l"/>
                      <a:r>
                        <a:rPr b="1" sz="1125" i="0" u="none">
                          <a:solidFill>
                            <a:srgbClr val="0F172A"/>
                          </a:solidFill>
                          <a:latin typeface="Inter"/>
                        </a:rPr>
                        <a:t>Lỗi PGRST301 / Nhầm Supabase project</a:t>
                      </a:r>
                    </a:p>
                  </a:txBody>
                  <a:tcPr anchor="ctr" marL="63500" marR="63500" marT="25400" marB="25400">
                    <a:lnL>
                      <a:noFill/>
                    </a:lnL>
                    <a:lnR>
                      <a:noFill/>
                    </a:lnR>
                    <a:lnT>
                      <a:noFill/>
                    </a:lnT>
                    <a:lnB>
                      <a:noFill/>
                    </a:lnB>
                    <a:solidFill>
                      <a:srgbClr val="FFFFFF"/>
                    </a:solidFill>
                  </a:tcPr>
                </a:tc>
                <a:tc>
                  <a:txBody>
                    <a:bodyPr/>
                    <a:lstStyle/>
                    <a:p>
                      <a:pPr algn="l"/>
                      <a:r>
                        <a:rPr b="0" sz="1125" i="0" u="none">
                          <a:solidFill>
                            <a:srgbClr val="475569"/>
                          </a:solidFill>
                          <a:latin typeface="Inter"/>
                        </a:rPr>
                        <a:t>Đổi đúng URL/key, kiểm tra issuer/audience; xác nhận API trả 200.</a:t>
                      </a:r>
                    </a:p>
                  </a:txBody>
                  <a:tcPr anchor="ctr" marL="63500" marR="63500" marT="25400" marB="25400">
                    <a:lnL>
                      <a:noFill/>
                    </a:lnL>
                    <a:lnR>
                      <a:noFill/>
                    </a:lnR>
                    <a:lnT>
                      <a:noFill/>
                    </a:lnT>
                    <a:lnB>
                      <a:noFill/>
                    </a:lnB>
                    <a:solidFill>
                      <a:srgbClr val="FFFFFF"/>
                    </a:solidFill>
                  </a:tcPr>
                </a:tc>
              </a:tr>
              <a:tr h="466725">
                <a:tc>
                  <a:txBody>
                    <a:bodyPr/>
                    <a:lstStyle/>
                    <a:p>
                      <a:pPr algn="l"/>
                      <a:r>
                        <a:rPr b="1" sz="1125" i="0" u="none">
                          <a:solidFill>
                            <a:srgbClr val="0F172A"/>
                          </a:solidFill>
                          <a:latin typeface="Inter"/>
                        </a:rPr>
                        <a:t>Tràn ngang thẻ tài liệu trên Web</a:t>
                      </a:r>
                    </a:p>
                  </a:txBody>
                  <a:tcPr anchor="ctr" marL="63500" marR="63500" marT="25400" marB="25400">
                    <a:lnL>
                      <a:noFill/>
                    </a:lnL>
                    <a:lnR>
                      <a:noFill/>
                    </a:lnR>
                    <a:lnT>
                      <a:noFill/>
                    </a:lnT>
                    <a:lnB>
                      <a:noFill/>
                    </a:lnB>
                    <a:solidFill>
                      <a:srgbClr val="FFFFFF"/>
                    </a:solidFill>
                  </a:tcPr>
                </a:tc>
                <a:tc>
                  <a:txBody>
                    <a:bodyPr/>
                    <a:lstStyle/>
                    <a:p>
                      <a:pPr algn="l"/>
                      <a:r>
                        <a:rPr b="0" sz="1125" i="0" u="none">
                          <a:solidFill>
                            <a:srgbClr val="475569"/>
                          </a:solidFill>
                          <a:latin typeface="Inter"/>
                        </a:rPr>
                        <a:t>Sửa bố cục footer card, kiểm thử kỹ trên viewport hẹp và rộng.</a:t>
                      </a:r>
                    </a:p>
                  </a:txBody>
                  <a:tcPr anchor="ctr" marL="63500" marR="63500" marT="25400" marB="25400">
                    <a:lnL>
                      <a:noFill/>
                    </a:lnL>
                    <a:lnR>
                      <a:noFill/>
                    </a:lnR>
                    <a:lnT>
                      <a:noFill/>
                    </a:lnT>
                    <a:lnB>
                      <a:noFill/>
                    </a:lnB>
                    <a:solidFill>
                      <a:srgbClr val="FFFFFF"/>
                    </a:solidFill>
                  </a:tcPr>
                </a:tc>
              </a:tr>
              <a:tr h="466725">
                <a:tc>
                  <a:txBody>
                    <a:bodyPr/>
                    <a:lstStyle/>
                    <a:p>
                      <a:pPr algn="l"/>
                      <a:r>
                        <a:rPr b="1" sz="1125" i="0" u="none">
                          <a:solidFill>
                            <a:srgbClr val="0F172A"/>
                          </a:solidFill>
                          <a:latin typeface="Inter"/>
                        </a:rPr>
                        <a:t>Tác vụ bất đồng bộ sau khi dispose màn hình</a:t>
                      </a:r>
                    </a:p>
                  </a:txBody>
                  <a:tcPr anchor="ctr" marL="63500" marR="63500" marT="25400" marB="25400">
                    <a:lnL>
                      <a:noFill/>
                    </a:lnL>
                    <a:lnR>
                      <a:noFill/>
                    </a:lnR>
                    <a:lnT>
                      <a:noFill/>
                    </a:lnT>
                    <a:lnB>
                      <a:noFill/>
                    </a:lnB>
                    <a:solidFill>
                      <a:srgbClr val="FFFFFF"/>
                    </a:solidFill>
                  </a:tcPr>
                </a:tc>
                <a:tc>
                  <a:txBody>
                    <a:bodyPr/>
                    <a:lstStyle/>
                    <a:p>
                      <a:pPr algn="l"/>
                      <a:r>
                        <a:rPr b="0" sz="1125" i="0" u="none">
                          <a:solidFill>
                            <a:srgbClr val="475569"/>
                          </a:solidFill>
                          <a:latin typeface="Inter"/>
                        </a:rPr>
                        <a:t>Thêm trạng thái kiểm tra dispose và generation để bỏ kết quả cũ.</a:t>
                      </a:r>
                    </a:p>
                  </a:txBody>
                  <a:tcPr anchor="ctr" marL="63500" marR="63500" marT="25400" marB="25400">
                    <a:lnL>
                      <a:noFill/>
                    </a:lnL>
                    <a:lnR>
                      <a:noFill/>
                    </a:lnR>
                    <a:lnT>
                      <a:noFill/>
                    </a:lnT>
                    <a:lnB>
                      <a:noFill/>
                    </a:lnB>
                    <a:solidFill>
                      <a:srgbClr val="FFFFFF"/>
                    </a:solidFill>
                  </a:tcPr>
                </a:tc>
              </a:tr>
              <a:tr h="466725">
                <a:tc>
                  <a:txBody>
                    <a:bodyPr/>
                    <a:lstStyle/>
                    <a:p>
                      <a:pPr algn="l"/>
                      <a:r>
                        <a:rPr b="1" sz="1125" i="0" u="none">
                          <a:solidFill>
                            <a:srgbClr val="0F172A"/>
                          </a:solidFill>
                          <a:latin typeface="Inter"/>
                        </a:rPr>
                        <a:t>Push notification thất bại làm lỗi nghiệp vụ</a:t>
                      </a:r>
                    </a:p>
                  </a:txBody>
                  <a:tcPr anchor="ctr" marL="63500" marR="63500" marT="25400" marB="25400">
                    <a:lnL>
                      <a:noFill/>
                    </a:lnL>
                    <a:lnR>
                      <a:noFill/>
                    </a:lnR>
                    <a:lnT>
                      <a:noFill/>
                    </a:lnT>
                    <a:lnB>
                      <a:noFill/>
                    </a:lnB>
                    <a:solidFill>
                      <a:srgbClr val="FFFFFF"/>
                    </a:solidFill>
                  </a:tcPr>
                </a:tc>
                <a:tc>
                  <a:txBody>
                    <a:bodyPr/>
                    <a:lstStyle/>
                    <a:p>
                      <a:pPr algn="l"/>
                      <a:r>
                        <a:rPr b="0" sz="1125" i="0" u="none">
                          <a:solidFill>
                            <a:srgbClr val="475569"/>
                          </a:solidFill>
                          <a:latin typeface="Inter"/>
                        </a:rPr>
                        <a:t>Tách cảnh báo push khỏi kết quả chia sẻ/duyệt mượn dữ liệu.</a:t>
                      </a:r>
                    </a:p>
                  </a:txBody>
                  <a:tcPr anchor="ctr" marL="63500" marR="63500" marT="25400" marB="25400">
                    <a:lnL>
                      <a:noFill/>
                    </a:lnL>
                    <a:lnR>
                      <a:noFill/>
                    </a:lnR>
                    <a:lnT>
                      <a:noFill/>
                    </a:lnT>
                    <a:lnB>
                      <a:noFill/>
                    </a:lnB>
                    <a:solidFill>
                      <a:srgbClr val="FFFFFF"/>
                    </a:solidFill>
                  </a:tcPr>
                </a:tc>
              </a:tr>
            </a:tbl>
          </a:graphicData>
        </a:graphic>
      </p:graphicFrame>
      <p:sp>
        <p:nvSpPr>
          <p:cNvPr id="4" name="TextBox 3"/>
          <p:cNvSpPr txBox="1"/>
          <p:nvPr/>
        </p:nvSpPr>
        <p:spPr>
          <a:xfrm>
            <a:off x="609600" y="533400"/>
            <a:ext cx="11582400" cy="371475"/>
          </a:xfrm>
          <a:prstGeom prst="rect">
            <a:avLst/>
          </a:prstGeom>
          <a:noFill/>
        </p:spPr>
        <p:txBody>
          <a:bodyPr wrap="none" lIns="0" rIns="0" tIns="0" bIns="0" anchor="t">
            <a:spAutoFit/>
          </a:bodyPr>
          <a:lstStyle/>
          <a:p>
            <a:pPr algn="l"/>
            <a:r>
              <a:rPr b="1" sz="2400" i="0" u="none">
                <a:solidFill>
                  <a:srgbClr val="0F172A"/>
                </a:solidFill>
                <a:latin typeface="Inter"/>
              </a:rPr>
              <a:t>Các lỗi đã xử lý trong quá trình thực hiện</a:t>
            </a:r>
          </a:p>
        </p:txBody>
      </p:sp>
      <p:sp>
        <p:nvSpPr>
          <p:cNvPr id="5" name="TextBox 4"/>
          <p:cNvSpPr txBox="1"/>
          <p:nvPr/>
        </p:nvSpPr>
        <p:spPr>
          <a:xfrm>
            <a:off x="609600" y="1019175"/>
            <a:ext cx="11582400" cy="190500"/>
          </a:xfrm>
          <a:prstGeom prst="rect">
            <a:avLst/>
          </a:prstGeom>
          <a:noFill/>
        </p:spPr>
        <p:txBody>
          <a:bodyPr wrap="none" lIns="0" rIns="0" tIns="0" bIns="0" anchor="t">
            <a:spAutoFit/>
          </a:bodyPr>
          <a:lstStyle/>
          <a:p>
            <a:pPr algn="l"/>
            <a:r>
              <a:rPr b="0" sz="1200" i="0" u="none">
                <a:solidFill>
                  <a:srgbClr val="64748B"/>
                </a:solidFill>
                <a:latin typeface="Inter"/>
              </a:rPr>
              <a:t>Khắc phục triệt để các vấn đề về kết nối, đồng bộ và trải nghiệm giao diện.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3067050"/>
            <a:ext cx="3505200" cy="1704975"/>
          </a:xfrm>
          <a:prstGeom prst="roundRect">
            <a:avLst>
              <a:gd name="adj" fmla="val 6703"/>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43400" y="3067050"/>
            <a:ext cx="3505200" cy="1704975"/>
          </a:xfrm>
          <a:prstGeom prst="roundRect">
            <a:avLst>
              <a:gd name="adj" fmla="val 6703"/>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077200" y="3067050"/>
            <a:ext cx="3505200" cy="1704975"/>
          </a:xfrm>
          <a:prstGeom prst="roundRect">
            <a:avLst>
              <a:gd name="adj" fmla="val 6703"/>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09600" y="533400"/>
            <a:ext cx="11582400" cy="371475"/>
          </a:xfrm>
          <a:prstGeom prst="rect">
            <a:avLst/>
          </a:prstGeom>
          <a:noFill/>
        </p:spPr>
        <p:txBody>
          <a:bodyPr wrap="none" lIns="0" rIns="0" tIns="0" bIns="0" anchor="t">
            <a:spAutoFit/>
          </a:bodyPr>
          <a:lstStyle/>
          <a:p>
            <a:pPr algn="l"/>
            <a:r>
              <a:rPr b="1" sz="2400" i="0" u="none">
                <a:solidFill>
                  <a:srgbClr val="0F172A"/>
                </a:solidFill>
                <a:latin typeface="Inter"/>
              </a:rPr>
              <a:t>Kết quả kiểm thử và bằng chứng</a:t>
            </a:r>
          </a:p>
        </p:txBody>
      </p:sp>
      <p:sp>
        <p:nvSpPr>
          <p:cNvPr id="6" name="TextBox 5"/>
          <p:cNvSpPr txBox="1"/>
          <p:nvPr/>
        </p:nvSpPr>
        <p:spPr>
          <a:xfrm>
            <a:off x="609600" y="1019175"/>
            <a:ext cx="11582400" cy="190500"/>
          </a:xfrm>
          <a:prstGeom prst="rect">
            <a:avLst/>
          </a:prstGeom>
          <a:noFill/>
        </p:spPr>
        <p:txBody>
          <a:bodyPr wrap="none" lIns="0" rIns="0" tIns="0" bIns="0" anchor="t">
            <a:spAutoFit/>
          </a:bodyPr>
          <a:lstStyle/>
          <a:p>
            <a:pPr algn="l"/>
            <a:r>
              <a:rPr b="0" sz="1200" i="0" u="none">
                <a:solidFill>
                  <a:srgbClr val="64748B"/>
                </a:solidFill>
                <a:latin typeface="Inter"/>
              </a:rPr>
              <a:t>Ghi nhận số liệu kiểm thử thực tế từ bộ công cụ kiểm tra tự động.</a:t>
            </a:r>
          </a:p>
        </p:txBody>
      </p:sp>
      <p:sp>
        <p:nvSpPr>
          <p:cNvPr id="7" name="TextBox 6"/>
          <p:cNvSpPr txBox="1"/>
          <p:nvPr/>
        </p:nvSpPr>
        <p:spPr>
          <a:xfrm>
            <a:off x="516731" y="3343275"/>
            <a:ext cx="3690937" cy="647700"/>
          </a:xfrm>
          <a:prstGeom prst="rect">
            <a:avLst/>
          </a:prstGeom>
          <a:noFill/>
        </p:spPr>
        <p:txBody>
          <a:bodyPr wrap="none" lIns="0" rIns="0" tIns="0" bIns="0" anchor="t">
            <a:spAutoFit/>
          </a:bodyPr>
          <a:lstStyle/>
          <a:p>
            <a:pPr algn="ctr"/>
            <a:r>
              <a:rPr b="1" sz="4200" i="0" u="none">
                <a:solidFill>
                  <a:srgbClr val="3B82F6"/>
                </a:solidFill>
                <a:latin typeface="Inter"/>
              </a:rPr>
              <a:t>41 / 41</a:t>
            </a:r>
          </a:p>
        </p:txBody>
      </p:sp>
      <p:sp>
        <p:nvSpPr>
          <p:cNvPr id="8" name="TextBox 7"/>
          <p:cNvSpPr txBox="1"/>
          <p:nvPr/>
        </p:nvSpPr>
        <p:spPr>
          <a:xfrm>
            <a:off x="516731" y="4067175"/>
            <a:ext cx="3690937" cy="190500"/>
          </a:xfrm>
          <a:prstGeom prst="rect">
            <a:avLst/>
          </a:prstGeom>
          <a:noFill/>
        </p:spPr>
        <p:txBody>
          <a:bodyPr wrap="none" lIns="0" rIns="0" tIns="0" bIns="0" anchor="t">
            <a:spAutoFit/>
          </a:bodyPr>
          <a:lstStyle/>
          <a:p>
            <a:pPr algn="ctr"/>
            <a:r>
              <a:rPr b="1" sz="1200" i="0" u="none">
                <a:solidFill>
                  <a:srgbClr val="0F172A"/>
                </a:solidFill>
                <a:latin typeface="Inter"/>
              </a:rPr>
              <a:t>Unit &amp; Widget Tests</a:t>
            </a:r>
          </a:p>
        </p:txBody>
      </p:sp>
      <p:sp>
        <p:nvSpPr>
          <p:cNvPr id="9" name="TextBox 8"/>
          <p:cNvSpPr txBox="1"/>
          <p:nvPr/>
        </p:nvSpPr>
        <p:spPr>
          <a:xfrm>
            <a:off x="516731" y="4333875"/>
            <a:ext cx="3690937" cy="161925"/>
          </a:xfrm>
          <a:prstGeom prst="rect">
            <a:avLst/>
          </a:prstGeom>
          <a:noFill/>
        </p:spPr>
        <p:txBody>
          <a:bodyPr wrap="none" lIns="0" rIns="0" tIns="0" bIns="0" anchor="t">
            <a:spAutoFit/>
          </a:bodyPr>
          <a:lstStyle/>
          <a:p>
            <a:pPr algn="ctr"/>
            <a:r>
              <a:rPr b="0" sz="1050" i="0" u="none">
                <a:solidFill>
                  <a:srgbClr val="64748B"/>
                </a:solidFill>
                <a:latin typeface="Inter"/>
              </a:rPr>
              <a:t>Flutter analyzer không lỗi</a:t>
            </a:r>
          </a:p>
        </p:txBody>
      </p:sp>
      <p:sp>
        <p:nvSpPr>
          <p:cNvPr id="10" name="TextBox 9"/>
          <p:cNvSpPr txBox="1"/>
          <p:nvPr/>
        </p:nvSpPr>
        <p:spPr>
          <a:xfrm>
            <a:off x="4250531" y="3343275"/>
            <a:ext cx="3690937" cy="647700"/>
          </a:xfrm>
          <a:prstGeom prst="rect">
            <a:avLst/>
          </a:prstGeom>
          <a:noFill/>
        </p:spPr>
        <p:txBody>
          <a:bodyPr wrap="none" lIns="0" rIns="0" tIns="0" bIns="0" anchor="t">
            <a:spAutoFit/>
          </a:bodyPr>
          <a:lstStyle/>
          <a:p>
            <a:pPr algn="ctr"/>
            <a:r>
              <a:rPr b="1" sz="4200" i="0" u="none">
                <a:solidFill>
                  <a:srgbClr val="0F172A"/>
                </a:solidFill>
                <a:latin typeface="Inter"/>
              </a:rPr>
              <a:t>25 / 25</a:t>
            </a:r>
          </a:p>
        </p:txBody>
      </p:sp>
      <p:sp>
        <p:nvSpPr>
          <p:cNvPr id="11" name="TextBox 10"/>
          <p:cNvSpPr txBox="1"/>
          <p:nvPr/>
        </p:nvSpPr>
        <p:spPr>
          <a:xfrm>
            <a:off x="4250531" y="4067175"/>
            <a:ext cx="3690937" cy="190500"/>
          </a:xfrm>
          <a:prstGeom prst="rect">
            <a:avLst/>
          </a:prstGeom>
          <a:noFill/>
        </p:spPr>
        <p:txBody>
          <a:bodyPr wrap="none" lIns="0" rIns="0" tIns="0" bIns="0" anchor="t">
            <a:spAutoFit/>
          </a:bodyPr>
          <a:lstStyle/>
          <a:p>
            <a:pPr algn="ctr"/>
            <a:r>
              <a:rPr b="1" sz="1200" i="0" u="none">
                <a:solidFill>
                  <a:srgbClr val="0F172A"/>
                </a:solidFill>
                <a:latin typeface="Inter"/>
              </a:rPr>
              <a:t>PostgreSQL WASM</a:t>
            </a:r>
          </a:p>
        </p:txBody>
      </p:sp>
      <p:sp>
        <p:nvSpPr>
          <p:cNvPr id="12" name="TextBox 11"/>
          <p:cNvSpPr txBox="1"/>
          <p:nvPr/>
        </p:nvSpPr>
        <p:spPr>
          <a:xfrm>
            <a:off x="4250531" y="4333875"/>
            <a:ext cx="3690937" cy="161925"/>
          </a:xfrm>
          <a:prstGeom prst="rect">
            <a:avLst/>
          </a:prstGeom>
          <a:noFill/>
        </p:spPr>
        <p:txBody>
          <a:bodyPr wrap="none" lIns="0" rIns="0" tIns="0" bIns="0" anchor="t">
            <a:spAutoFit/>
          </a:bodyPr>
          <a:lstStyle/>
          <a:p>
            <a:pPr algn="ctr"/>
            <a:r>
              <a:rPr b="0" sz="1050" i="0" u="none">
                <a:solidFill>
                  <a:srgbClr val="64748B"/>
                </a:solidFill>
                <a:latin typeface="Inter"/>
              </a:rPr>
              <a:t>Kiểm tra database cục bộ</a:t>
            </a:r>
          </a:p>
        </p:txBody>
      </p:sp>
      <p:sp>
        <p:nvSpPr>
          <p:cNvPr id="13" name="TextBox 12"/>
          <p:cNvSpPr txBox="1"/>
          <p:nvPr/>
        </p:nvSpPr>
        <p:spPr>
          <a:xfrm>
            <a:off x="7984331" y="3343275"/>
            <a:ext cx="3690937" cy="647700"/>
          </a:xfrm>
          <a:prstGeom prst="rect">
            <a:avLst/>
          </a:prstGeom>
          <a:noFill/>
        </p:spPr>
        <p:txBody>
          <a:bodyPr wrap="none" lIns="0" rIns="0" tIns="0" bIns="0" anchor="t">
            <a:spAutoFit/>
          </a:bodyPr>
          <a:lstStyle/>
          <a:p>
            <a:pPr algn="ctr"/>
            <a:r>
              <a:rPr b="1" sz="4200" i="0" u="none">
                <a:solidFill>
                  <a:srgbClr val="8B5CF6"/>
                </a:solidFill>
                <a:latin typeface="Inter"/>
              </a:rPr>
              <a:t>200 OK</a:t>
            </a:r>
          </a:p>
        </p:txBody>
      </p:sp>
      <p:sp>
        <p:nvSpPr>
          <p:cNvPr id="14" name="TextBox 13"/>
          <p:cNvSpPr txBox="1"/>
          <p:nvPr/>
        </p:nvSpPr>
        <p:spPr>
          <a:xfrm>
            <a:off x="7984331" y="4067175"/>
            <a:ext cx="3690937" cy="190500"/>
          </a:xfrm>
          <a:prstGeom prst="rect">
            <a:avLst/>
          </a:prstGeom>
          <a:noFill/>
        </p:spPr>
        <p:txBody>
          <a:bodyPr wrap="none" lIns="0" rIns="0" tIns="0" bIns="0" anchor="t">
            <a:spAutoFit/>
          </a:bodyPr>
          <a:lstStyle/>
          <a:p>
            <a:pPr algn="ctr"/>
            <a:r>
              <a:rPr b="1" sz="1200" i="0" u="none">
                <a:solidFill>
                  <a:srgbClr val="0F172A"/>
                </a:solidFill>
                <a:latin typeface="Inter"/>
              </a:rPr>
              <a:t>API Cloud Project</a:t>
            </a:r>
          </a:p>
        </p:txBody>
      </p:sp>
      <p:sp>
        <p:nvSpPr>
          <p:cNvPr id="15" name="TextBox 14"/>
          <p:cNvSpPr txBox="1"/>
          <p:nvPr/>
        </p:nvSpPr>
        <p:spPr>
          <a:xfrm>
            <a:off x="7984331" y="4333875"/>
            <a:ext cx="3690937" cy="161925"/>
          </a:xfrm>
          <a:prstGeom prst="rect">
            <a:avLst/>
          </a:prstGeom>
          <a:noFill/>
        </p:spPr>
        <p:txBody>
          <a:bodyPr wrap="none" lIns="0" rIns="0" tIns="0" bIns="0" anchor="t">
            <a:spAutoFit/>
          </a:bodyPr>
          <a:lstStyle/>
          <a:p>
            <a:pPr algn="ctr"/>
            <a:r>
              <a:rPr b="0" sz="1050" i="0" u="none">
                <a:solidFill>
                  <a:srgbClr val="64748B"/>
                </a:solidFill>
                <a:latin typeface="Inter"/>
              </a:rPr>
              <a:t>Firebase token chấp nhận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714625"/>
            <a:ext cx="10972800" cy="2333625"/>
          </a:xfrm>
          <a:prstGeom prst="roundRect">
            <a:avLst>
              <a:gd name="adj" fmla="val 0"/>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3" name="Table 2"/>
          <p:cNvGraphicFramePr>
            <a:graphicFrameLocks noGrp="1"/>
          </p:cNvGraphicFramePr>
          <p:nvPr/>
        </p:nvGraphicFramePr>
        <p:xfrm>
          <a:off x="609600" y="2714625"/>
          <a:ext cx="10963273" cy="2333625"/>
        </p:xfrm>
        <a:graphic>
          <a:graphicData uri="http://schemas.openxmlformats.org/drawingml/2006/table">
            <a:tbl>
              <a:tblPr firstRow="0" bandRow="0">
                <a:lnL>
                  <a:noFill/>
                </a:lnL>
                <a:lnR>
                  <a:noFill/>
                </a:lnR>
                <a:lnT>
                  <a:noFill/>
                </a:lnT>
                <a:lnB>
                  <a:noFill/>
                </a:lnB>
                <a:lnV>
                  <a:noFill/>
                </a:lnV>
                <a:lnH>
                  <a:noFill/>
                </a:lnH>
              </a:tblPr>
              <a:tblGrid>
                <a:gridCol w="2192535"/>
                <a:gridCol w="4385220"/>
                <a:gridCol w="4385518"/>
              </a:tblGrid>
              <a:tr h="466725">
                <a:tc>
                  <a:txBody>
                    <a:bodyPr/>
                    <a:lstStyle/>
                    <a:p>
                      <a:pPr algn="l"/>
                      <a:r>
                        <a:rPr b="1" sz="1125" i="0" u="none">
                          <a:solidFill>
                            <a:srgbClr val="334155"/>
                          </a:solidFill>
                          <a:latin typeface="Inter"/>
                        </a:rPr>
                        <a:t>Thứ tự</a:t>
                      </a:r>
                    </a:p>
                  </a:txBody>
                  <a:tcPr anchor="ctr" marL="63500" marR="63500" marT="25400" marB="25400">
                    <a:lnL>
                      <a:noFill/>
                    </a:lnL>
                    <a:lnR>
                      <a:noFill/>
                    </a:lnR>
                    <a:lnT>
                      <a:noFill/>
                    </a:lnT>
                    <a:lnB>
                      <a:noFill/>
                    </a:lnB>
                    <a:solidFill>
                      <a:srgbClr val="F8FAFC"/>
                    </a:solidFill>
                  </a:tcPr>
                </a:tc>
                <a:tc>
                  <a:txBody>
                    <a:bodyPr/>
                    <a:lstStyle/>
                    <a:p>
                      <a:pPr algn="l"/>
                      <a:r>
                        <a:rPr b="1" sz="1125" i="0" u="none">
                          <a:solidFill>
                            <a:srgbClr val="334155"/>
                          </a:solidFill>
                          <a:latin typeface="Inter"/>
                        </a:rPr>
                        <a:t>Thao tác thực hiện</a:t>
                      </a:r>
                    </a:p>
                  </a:txBody>
                  <a:tcPr anchor="ctr" marL="63500" marR="63500" marT="25400" marB="25400">
                    <a:lnL>
                      <a:noFill/>
                    </a:lnL>
                    <a:lnR>
                      <a:noFill/>
                    </a:lnR>
                    <a:lnT>
                      <a:noFill/>
                    </a:lnT>
                    <a:lnB>
                      <a:noFill/>
                    </a:lnB>
                    <a:solidFill>
                      <a:srgbClr val="F8FAFC"/>
                    </a:solidFill>
                  </a:tcPr>
                </a:tc>
                <a:tc>
                  <a:txBody>
                    <a:bodyPr/>
                    <a:lstStyle/>
                    <a:p>
                      <a:pPr algn="l"/>
                      <a:r>
                        <a:rPr b="1" sz="1125" i="0" u="none">
                          <a:solidFill>
                            <a:srgbClr val="334155"/>
                          </a:solidFill>
                          <a:latin typeface="Inter"/>
                        </a:rPr>
                        <a:t>Kết quả cần quan sát</a:t>
                      </a:r>
                    </a:p>
                  </a:txBody>
                  <a:tcPr anchor="ctr" marL="63500" marR="63500" marT="25400" marB="25400">
                    <a:lnL>
                      <a:noFill/>
                    </a:lnL>
                    <a:lnR>
                      <a:noFill/>
                    </a:lnR>
                    <a:lnT>
                      <a:noFill/>
                    </a:lnT>
                    <a:lnB>
                      <a:noFill/>
                    </a:lnB>
                    <a:solidFill>
                      <a:srgbClr val="F8FAFC"/>
                    </a:solidFill>
                  </a:tcPr>
                </a:tc>
              </a:tr>
              <a:tr h="466725">
                <a:tc>
                  <a:txBody>
                    <a:bodyPr/>
                    <a:lstStyle/>
                    <a:p>
                      <a:pPr algn="l"/>
                      <a:r>
                        <a:rPr b="1" sz="1125" i="0" u="none">
                          <a:solidFill>
                            <a:srgbClr val="0F172A"/>
                          </a:solidFill>
                          <a:latin typeface="Inter"/>
                        </a:rPr>
                        <a:t>1 · Local CRUD</a:t>
                      </a:r>
                    </a:p>
                  </a:txBody>
                  <a:tcPr anchor="ctr" marL="63500" marR="63500" marT="25400" marB="25400">
                    <a:lnL>
                      <a:noFill/>
                    </a:lnL>
                    <a:lnR>
                      <a:noFill/>
                    </a:lnR>
                    <a:lnT>
                      <a:noFill/>
                    </a:lnT>
                    <a:lnB>
                      <a:noFill/>
                    </a:lnB>
                    <a:solidFill>
                      <a:srgbClr val="FFFFFF"/>
                    </a:solidFill>
                  </a:tcPr>
                </a:tc>
                <a:tc>
                  <a:txBody>
                    <a:bodyPr/>
                    <a:lstStyle/>
                    <a:p>
                      <a:pPr algn="l"/>
                      <a:r>
                        <a:rPr b="0" sz="1125" i="0" u="none">
                          <a:solidFill>
                            <a:srgbClr val="475569"/>
                          </a:solidFill>
                          <a:latin typeface="Inter"/>
                        </a:rPr>
                        <a:t>Thêm tài liệu mới và gắn danh sách tag.</a:t>
                      </a:r>
                    </a:p>
                  </a:txBody>
                  <a:tcPr anchor="ctr" marL="63500" marR="63500" marT="25400" marB="25400">
                    <a:lnL>
                      <a:noFill/>
                    </a:lnL>
                    <a:lnR>
                      <a:noFill/>
                    </a:lnR>
                    <a:lnT>
                      <a:noFill/>
                    </a:lnT>
                    <a:lnB>
                      <a:noFill/>
                    </a:lnB>
                    <a:solidFill>
                      <a:srgbClr val="FFFFFF"/>
                    </a:solidFill>
                  </a:tcPr>
                </a:tc>
                <a:tc>
                  <a:txBody>
                    <a:bodyPr/>
                    <a:lstStyle/>
                    <a:p>
                      <a:pPr algn="l"/>
                      <a:r>
                        <a:rPr b="0" sz="1125" i="0" u="none">
                          <a:solidFill>
                            <a:srgbClr val="475569"/>
                          </a:solidFill>
                          <a:latin typeface="Inter"/>
                        </a:rPr>
                        <a:t>Danh sách cập nhật tức thời, lọc tìm kiếm chính xác.</a:t>
                      </a:r>
                    </a:p>
                  </a:txBody>
                  <a:tcPr anchor="ctr" marL="63500" marR="63500" marT="25400" marB="25400">
                    <a:lnL>
                      <a:noFill/>
                    </a:lnL>
                    <a:lnR>
                      <a:noFill/>
                    </a:lnR>
                    <a:lnT>
                      <a:noFill/>
                    </a:lnT>
                    <a:lnB>
                      <a:noFill/>
                    </a:lnB>
                    <a:solidFill>
                      <a:srgbClr val="FFFFFF"/>
                    </a:solidFill>
                  </a:tcPr>
                </a:tc>
              </a:tr>
              <a:tr h="466725">
                <a:tc>
                  <a:txBody>
                    <a:bodyPr/>
                    <a:lstStyle/>
                    <a:p>
                      <a:pPr algn="l"/>
                      <a:r>
                        <a:rPr b="1" sz="1125" i="0" u="none">
                          <a:solidFill>
                            <a:srgbClr val="0F172A"/>
                          </a:solidFill>
                          <a:latin typeface="Inter"/>
                        </a:rPr>
                        <a:t>2 · Location</a:t>
                      </a:r>
                    </a:p>
                  </a:txBody>
                  <a:tcPr anchor="ctr" marL="63500" marR="63500" marT="25400" marB="25400">
                    <a:lnL>
                      <a:noFill/>
                    </a:lnL>
                    <a:lnR>
                      <a:noFill/>
                    </a:lnR>
                    <a:lnT>
                      <a:noFill/>
                    </a:lnT>
                    <a:lnB>
                      <a:noFill/>
                    </a:lnB>
                    <a:solidFill>
                      <a:srgbClr val="FFFFFF"/>
                    </a:solidFill>
                  </a:tcPr>
                </a:tc>
                <a:tc>
                  <a:txBody>
                    <a:bodyPr/>
                    <a:lstStyle/>
                    <a:p>
                      <a:pPr algn="l"/>
                      <a:r>
                        <a:rPr b="0" sz="1125" i="0" u="none">
                          <a:solidFill>
                            <a:srgbClr val="475569"/>
                          </a:solidFill>
                          <a:latin typeface="Inter"/>
                        </a:rPr>
                        <a:t>Nhập vị trí phòng, kệ và cặp tọa độ hợp lệ.</a:t>
                      </a:r>
                    </a:p>
                  </a:txBody>
                  <a:tcPr anchor="ctr" marL="63500" marR="63500" marT="25400" marB="25400">
                    <a:lnL>
                      <a:noFill/>
                    </a:lnL>
                    <a:lnR>
                      <a:noFill/>
                    </a:lnR>
                    <a:lnT>
                      <a:noFill/>
                    </a:lnT>
                    <a:lnB>
                      <a:noFill/>
                    </a:lnB>
                    <a:solidFill>
                      <a:srgbClr val="FFFFFF"/>
                    </a:solidFill>
                  </a:tcPr>
                </a:tc>
                <a:tc>
                  <a:txBody>
                    <a:bodyPr/>
                    <a:lstStyle/>
                    <a:p>
                      <a:pPr algn="l"/>
                      <a:r>
                        <a:rPr b="0" sz="1125" i="0" u="none">
                          <a:solidFill>
                            <a:srgbClr val="475569"/>
                          </a:solidFill>
                          <a:latin typeface="Inter"/>
                        </a:rPr>
                        <a:t>Mở bản đồ OpenStreetMap hiển thị đúng marker.</a:t>
                      </a:r>
                    </a:p>
                  </a:txBody>
                  <a:tcPr anchor="ctr" marL="63500" marR="63500" marT="25400" marB="25400">
                    <a:lnL>
                      <a:noFill/>
                    </a:lnL>
                    <a:lnR>
                      <a:noFill/>
                    </a:lnR>
                    <a:lnT>
                      <a:noFill/>
                    </a:lnT>
                    <a:lnB>
                      <a:noFill/>
                    </a:lnB>
                    <a:solidFill>
                      <a:srgbClr val="FFFFFF"/>
                    </a:solidFill>
                  </a:tcPr>
                </a:tc>
              </a:tr>
              <a:tr h="466725">
                <a:tc>
                  <a:txBody>
                    <a:bodyPr/>
                    <a:lstStyle/>
                    <a:p>
                      <a:pPr algn="l"/>
                      <a:r>
                        <a:rPr b="1" sz="1125" i="0" u="none">
                          <a:solidFill>
                            <a:srgbClr val="0F172A"/>
                          </a:solidFill>
                          <a:latin typeface="Inter"/>
                        </a:rPr>
                        <a:t>3 · Recommendation</a:t>
                      </a:r>
                    </a:p>
                  </a:txBody>
                  <a:tcPr anchor="ctr" marL="63500" marR="63500" marT="25400" marB="25400">
                    <a:lnL>
                      <a:noFill/>
                    </a:lnL>
                    <a:lnR>
                      <a:noFill/>
                    </a:lnR>
                    <a:lnT>
                      <a:noFill/>
                    </a:lnT>
                    <a:lnB>
                      <a:noFill/>
                    </a:lnB>
                    <a:solidFill>
                      <a:srgbClr val="FFFFFF"/>
                    </a:solidFill>
                  </a:tcPr>
                </a:tc>
                <a:tc>
                  <a:txBody>
                    <a:bodyPr/>
                    <a:lstStyle/>
                    <a:p>
                      <a:pPr algn="l"/>
                      <a:r>
                        <a:rPr b="0" sz="1125" i="0" u="none">
                          <a:solidFill>
                            <a:srgbClr val="475569"/>
                          </a:solidFill>
                          <a:latin typeface="Inter"/>
                        </a:rPr>
                        <a:t>Đánh dấu hoàn thành một tài liệu học tập.</a:t>
                      </a:r>
                    </a:p>
                  </a:txBody>
                  <a:tcPr anchor="ctr" marL="63500" marR="63500" marT="25400" marB="25400">
                    <a:lnL>
                      <a:noFill/>
                    </a:lnL>
                    <a:lnR>
                      <a:noFill/>
                    </a:lnR>
                    <a:lnT>
                      <a:noFill/>
                    </a:lnT>
                    <a:lnB>
                      <a:noFill/>
                    </a:lnB>
                    <a:solidFill>
                      <a:srgbClr val="FFFFFF"/>
                    </a:solidFill>
                  </a:tcPr>
                </a:tc>
                <a:tc>
                  <a:txBody>
                    <a:bodyPr/>
                    <a:lstStyle/>
                    <a:p>
                      <a:pPr algn="l"/>
                      <a:r>
                        <a:rPr b="0" sz="1125" i="0" u="none">
                          <a:solidFill>
                            <a:srgbClr val="475569"/>
                          </a:solidFill>
                          <a:latin typeface="Inter"/>
                        </a:rPr>
                        <a:t>Danh sách gợi ý tài liệu liên quan thay đổi tương ứng.</a:t>
                      </a:r>
                    </a:p>
                  </a:txBody>
                  <a:tcPr anchor="ctr" marL="63500" marR="63500" marT="25400" marB="25400">
                    <a:lnL>
                      <a:noFill/>
                    </a:lnL>
                    <a:lnR>
                      <a:noFill/>
                    </a:lnR>
                    <a:lnT>
                      <a:noFill/>
                    </a:lnT>
                    <a:lnB>
                      <a:noFill/>
                    </a:lnB>
                    <a:solidFill>
                      <a:srgbClr val="FFFFFF"/>
                    </a:solidFill>
                  </a:tcPr>
                </a:tc>
              </a:tr>
              <a:tr h="466725">
                <a:tc>
                  <a:txBody>
                    <a:bodyPr/>
                    <a:lstStyle/>
                    <a:p>
                      <a:pPr algn="l"/>
                      <a:r>
                        <a:rPr b="1" sz="1125" i="0" u="none">
                          <a:solidFill>
                            <a:srgbClr val="0F172A"/>
                          </a:solidFill>
                          <a:latin typeface="Inter"/>
                        </a:rPr>
                        <a:t>4 · Web Build</a:t>
                      </a:r>
                    </a:p>
                  </a:txBody>
                  <a:tcPr anchor="ctr" marL="63500" marR="63500" marT="25400" marB="25400">
                    <a:lnL>
                      <a:noFill/>
                    </a:lnL>
                    <a:lnR>
                      <a:noFill/>
                    </a:lnR>
                    <a:lnT>
                      <a:noFill/>
                    </a:lnT>
                    <a:lnB>
                      <a:noFill/>
                    </a:lnB>
                    <a:solidFill>
                      <a:srgbClr val="FFFFFF"/>
                    </a:solidFill>
                  </a:tcPr>
                </a:tc>
                <a:tc>
                  <a:txBody>
                    <a:bodyPr/>
                    <a:lstStyle/>
                    <a:p>
                      <a:pPr algn="l"/>
                      <a:r>
                        <a:rPr b="0" sz="1125" i="0" u="none">
                          <a:solidFill>
                            <a:srgbClr val="475569"/>
                          </a:solidFill>
                          <a:latin typeface="Inter"/>
                        </a:rPr>
                        <a:t>Khởi chạy ứng dụng bản build Web release.</a:t>
                      </a:r>
                    </a:p>
                  </a:txBody>
                  <a:tcPr anchor="ctr" marL="63500" marR="63500" marT="25400" marB="25400">
                    <a:lnL>
                      <a:noFill/>
                    </a:lnL>
                    <a:lnR>
                      <a:noFill/>
                    </a:lnR>
                    <a:lnT>
                      <a:noFill/>
                    </a:lnT>
                    <a:lnB>
                      <a:noFill/>
                    </a:lnB>
                    <a:solidFill>
                      <a:srgbClr val="FFFFFF"/>
                    </a:solidFill>
                  </a:tcPr>
                </a:tc>
                <a:tc>
                  <a:txBody>
                    <a:bodyPr/>
                    <a:lstStyle/>
                    <a:p>
                      <a:pPr algn="l"/>
                      <a:r>
                        <a:rPr b="0" sz="1125" i="0" u="none">
                          <a:solidFill>
                            <a:srgbClr val="475569"/>
                          </a:solidFill>
                          <a:latin typeface="Inter"/>
                        </a:rPr>
                        <a:t>Giao diện responsive mượt mà trên trình duyệt.</a:t>
                      </a:r>
                    </a:p>
                  </a:txBody>
                  <a:tcPr anchor="ctr" marL="63500" marR="63500" marT="25400" marB="25400">
                    <a:lnL>
                      <a:noFill/>
                    </a:lnL>
                    <a:lnR>
                      <a:noFill/>
                    </a:lnR>
                    <a:lnT>
                      <a:noFill/>
                    </a:lnT>
                    <a:lnB>
                      <a:noFill/>
                    </a:lnB>
                    <a:solidFill>
                      <a:srgbClr val="FFFFFF"/>
                    </a:solidFill>
                  </a:tcPr>
                </a:tc>
              </a:tr>
            </a:tbl>
          </a:graphicData>
        </a:graphic>
      </p:graphicFrame>
      <p:sp>
        <p:nvSpPr>
          <p:cNvPr id="4" name="TextBox 3"/>
          <p:cNvSpPr txBox="1"/>
          <p:nvPr/>
        </p:nvSpPr>
        <p:spPr>
          <a:xfrm>
            <a:off x="609600" y="533400"/>
            <a:ext cx="11582400" cy="371475"/>
          </a:xfrm>
          <a:prstGeom prst="rect">
            <a:avLst/>
          </a:prstGeom>
          <a:noFill/>
        </p:spPr>
        <p:txBody>
          <a:bodyPr wrap="none" lIns="0" rIns="0" tIns="0" bIns="0" anchor="t">
            <a:spAutoFit/>
          </a:bodyPr>
          <a:lstStyle/>
          <a:p>
            <a:pPr algn="l"/>
            <a:r>
              <a:rPr b="1" sz="2400" i="0" u="none">
                <a:solidFill>
                  <a:srgbClr val="0F172A"/>
                </a:solidFill>
                <a:latin typeface="Inter"/>
              </a:rPr>
              <a:t>Kịch bản demo khi thuyết trình</a:t>
            </a:r>
          </a:p>
        </p:txBody>
      </p:sp>
      <p:sp>
        <p:nvSpPr>
          <p:cNvPr id="5" name="TextBox 4"/>
          <p:cNvSpPr txBox="1"/>
          <p:nvPr/>
        </p:nvSpPr>
        <p:spPr>
          <a:xfrm>
            <a:off x="609600" y="1019175"/>
            <a:ext cx="11582400" cy="190500"/>
          </a:xfrm>
          <a:prstGeom prst="rect">
            <a:avLst/>
          </a:prstGeom>
          <a:noFill/>
        </p:spPr>
        <p:txBody>
          <a:bodyPr wrap="none" lIns="0" rIns="0" tIns="0" bIns="0" anchor="t">
            <a:spAutoFit/>
          </a:bodyPr>
          <a:lstStyle/>
          <a:p>
            <a:pPr algn="l"/>
            <a:r>
              <a:rPr b="0" sz="1200" i="0" u="none">
                <a:solidFill>
                  <a:srgbClr val="64748B"/>
                </a:solidFill>
                <a:latin typeface="Inter"/>
              </a:rPr>
              <a:t>Trình diễn các tính năng chính của ứng dụng trên môi trường Local và Web.</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609600" y="1884015"/>
            <a:ext cx="2016025" cy="266700"/>
          </a:xfrm>
          <a:prstGeom prst="roundRect">
            <a:avLst>
              <a:gd name="adj" fmla="val 21428"/>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09600" y="3830835"/>
            <a:ext cx="4171950" cy="1143000"/>
          </a:xfrm>
          <a:prstGeom prst="roundRect">
            <a:avLst>
              <a:gd name="adj" fmla="val 10000"/>
            </a:avLst>
          </a:prstGeom>
          <a:solidFill>
            <a:srgbClr val="1E293B"/>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10150" y="3830835"/>
            <a:ext cx="4171950" cy="1143000"/>
          </a:xfrm>
          <a:prstGeom prst="roundRect">
            <a:avLst>
              <a:gd name="adj" fmla="val 10000"/>
            </a:avLst>
          </a:prstGeom>
          <a:solidFill>
            <a:srgbClr val="1E293B"/>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2"/>
          <a:stretch>
            <a:fillRect/>
          </a:stretch>
        </p:blipFill>
        <p:spPr>
          <a:xfrm>
            <a:off x="847725" y="4088010"/>
            <a:ext cx="133350" cy="152400"/>
          </a:xfrm>
          <a:prstGeom prst="rect">
            <a:avLst/>
          </a:prstGeom>
        </p:spPr>
      </p:pic>
      <p:pic>
        <p:nvPicPr>
          <p:cNvPr id="6" name="Picture 5" descr="image.png"/>
          <p:cNvPicPr>
            <a:picLocks noChangeAspect="1"/>
          </p:cNvPicPr>
          <p:nvPr/>
        </p:nvPicPr>
        <p:blipFill>
          <a:blip r:embed="rId3"/>
          <a:stretch>
            <a:fillRect/>
          </a:stretch>
        </p:blipFill>
        <p:spPr>
          <a:xfrm>
            <a:off x="5248275" y="4088010"/>
            <a:ext cx="1655564" cy="152400"/>
          </a:xfrm>
          <a:prstGeom prst="rect">
            <a:avLst/>
          </a:prstGeom>
        </p:spPr>
      </p:pic>
      <p:sp>
        <p:nvSpPr>
          <p:cNvPr id="7" name="TextBox 6"/>
          <p:cNvSpPr txBox="1"/>
          <p:nvPr/>
        </p:nvSpPr>
        <p:spPr>
          <a:xfrm>
            <a:off x="742950" y="1941165"/>
            <a:ext cx="1844575" cy="152400"/>
          </a:xfrm>
          <a:prstGeom prst="rect">
            <a:avLst/>
          </a:prstGeom>
          <a:noFill/>
        </p:spPr>
        <p:txBody>
          <a:bodyPr wrap="square" lIns="0" rIns="0" tIns="0" bIns="0" anchor="t">
            <a:spAutoFit/>
          </a:bodyPr>
          <a:lstStyle/>
          <a:p>
            <a:pPr algn="l"/>
            <a:r>
              <a:rPr b="1" sz="975" i="0" u="none">
                <a:solidFill>
                  <a:srgbClr val="FFFFFF"/>
                </a:solidFill>
                <a:latin typeface="Inter"/>
              </a:rPr>
              <a:t>TỔNG KẾT &amp; ĐỊNH HƯỚNG</a:t>
            </a:r>
          </a:p>
        </p:txBody>
      </p:sp>
      <p:sp>
        <p:nvSpPr>
          <p:cNvPr id="8" name="TextBox 7"/>
          <p:cNvSpPr txBox="1"/>
          <p:nvPr/>
        </p:nvSpPr>
        <p:spPr>
          <a:xfrm>
            <a:off x="609600" y="2341215"/>
            <a:ext cx="11582400" cy="479970"/>
          </a:xfrm>
          <a:prstGeom prst="rect">
            <a:avLst/>
          </a:prstGeom>
          <a:noFill/>
        </p:spPr>
        <p:txBody>
          <a:bodyPr wrap="none" lIns="0" rIns="0" tIns="0" bIns="0" anchor="t">
            <a:spAutoFit/>
          </a:bodyPr>
          <a:lstStyle/>
          <a:p>
            <a:pPr algn="l">
              <a:lnSpc>
                <a:spcPts val="3779"/>
              </a:lnSpc>
            </a:pPr>
            <a:r>
              <a:rPr b="1" sz="3150" i="0" u="none">
                <a:solidFill>
                  <a:srgbClr val="FFFFFF"/>
                </a:solidFill>
                <a:latin typeface="Inter"/>
              </a:rPr>
              <a:t>Hoàn thành nền tảng &amp; Sẵn sàng bước tiếp</a:t>
            </a:r>
          </a:p>
        </p:txBody>
      </p:sp>
      <p:sp>
        <p:nvSpPr>
          <p:cNvPr id="9" name="TextBox 8"/>
          <p:cNvSpPr txBox="1"/>
          <p:nvPr/>
        </p:nvSpPr>
        <p:spPr>
          <a:xfrm>
            <a:off x="609600" y="2973585"/>
            <a:ext cx="8191500" cy="514350"/>
          </a:xfrm>
          <a:prstGeom prst="rect">
            <a:avLst/>
          </a:prstGeom>
          <a:noFill/>
        </p:spPr>
        <p:txBody>
          <a:bodyPr wrap="square" lIns="0" rIns="0" tIns="0" bIns="0" anchor="t">
            <a:spAutoFit/>
          </a:bodyPr>
          <a:lstStyle/>
          <a:p>
            <a:pPr algn="l">
              <a:lnSpc>
                <a:spcPts val="2025"/>
              </a:lnSpc>
            </a:pPr>
            <a:r>
              <a:rPr b="0" sz="1350" i="0" u="none">
                <a:solidFill>
                  <a:srgbClr val="CBD5E1"/>
                </a:solidFill>
                <a:latin typeface="Inter"/>
              </a:rPr>
              <a:t>Nhóm 15 đã xây dựng thành công kiến trúc hybrid, các luồng chức năng cốt lõi cùng hệ thống kiểm thử toàn diện cho đề tài CashewDoc.</a:t>
            </a:r>
          </a:p>
        </p:txBody>
      </p:sp>
      <p:sp>
        <p:nvSpPr>
          <p:cNvPr id="10" name="TextBox 9"/>
          <p:cNvSpPr txBox="1"/>
          <p:nvPr/>
        </p:nvSpPr>
        <p:spPr>
          <a:xfrm>
            <a:off x="847725" y="4068960"/>
            <a:ext cx="4850606" cy="190500"/>
          </a:xfrm>
          <a:prstGeom prst="rect">
            <a:avLst/>
          </a:prstGeom>
          <a:noFill/>
        </p:spPr>
        <p:txBody>
          <a:bodyPr wrap="none" lIns="209550" rIns="0" tIns="0" bIns="0" anchor="t">
            <a:spAutoFit/>
          </a:bodyPr>
          <a:lstStyle/>
          <a:p>
            <a:pPr algn="l"/>
            <a:r>
              <a:rPr b="1" sz="1200" i="0" u="none">
                <a:solidFill>
                  <a:srgbClr val="FFFFFF"/>
                </a:solidFill>
                <a:latin typeface="Inter"/>
              </a:rPr>
              <a:t>Đã đạt được</a:t>
            </a:r>
          </a:p>
        </p:txBody>
      </p:sp>
      <p:sp>
        <p:nvSpPr>
          <p:cNvPr id="11" name="TextBox 10"/>
          <p:cNvSpPr txBox="1"/>
          <p:nvPr/>
        </p:nvSpPr>
        <p:spPr>
          <a:xfrm>
            <a:off x="847725" y="4335660"/>
            <a:ext cx="3790950" cy="400050"/>
          </a:xfrm>
          <a:prstGeom prst="rect">
            <a:avLst/>
          </a:prstGeom>
          <a:noFill/>
        </p:spPr>
        <p:txBody>
          <a:bodyPr wrap="square" lIns="0" rIns="0" tIns="0" bIns="0" anchor="t">
            <a:spAutoFit/>
          </a:bodyPr>
          <a:lstStyle/>
          <a:p>
            <a:pPr algn="l">
              <a:lnSpc>
                <a:spcPts val="1575"/>
              </a:lnSpc>
            </a:pPr>
            <a:r>
              <a:rPr b="0" sz="1050" i="0" u="none">
                <a:solidFill>
                  <a:srgbClr val="94A3B8"/>
                </a:solidFill>
                <a:latin typeface="Inter"/>
              </a:rPr>
              <a:t>41/41 unit test, 25/25 SQL check, Web build release và các luồng quản lý local hoàn chỉnh.</a:t>
            </a:r>
          </a:p>
        </p:txBody>
      </p:sp>
      <p:sp>
        <p:nvSpPr>
          <p:cNvPr id="12" name="TextBox 11"/>
          <p:cNvSpPr txBox="1"/>
          <p:nvPr/>
        </p:nvSpPr>
        <p:spPr>
          <a:xfrm>
            <a:off x="5248275" y="4335660"/>
            <a:ext cx="3790950" cy="400050"/>
          </a:xfrm>
          <a:prstGeom prst="rect">
            <a:avLst/>
          </a:prstGeom>
          <a:noFill/>
        </p:spPr>
        <p:txBody>
          <a:bodyPr wrap="square" lIns="0" rIns="0" tIns="0" bIns="0" anchor="t">
            <a:spAutoFit/>
          </a:bodyPr>
          <a:lstStyle/>
          <a:p>
            <a:pPr algn="l">
              <a:lnSpc>
                <a:spcPts val="1575"/>
              </a:lnSpc>
            </a:pPr>
            <a:r>
              <a:rPr b="0" sz="1050" i="0" u="none">
                <a:solidFill>
                  <a:srgbClr val="94A3B8"/>
                </a:solidFill>
                <a:latin typeface="Inter"/>
              </a:rPr>
              <a:t>Đồng bộ schema online hoàn chỉnh, hoàn tất FCM notification và kiểm thử tích hợp đa tài khoản.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